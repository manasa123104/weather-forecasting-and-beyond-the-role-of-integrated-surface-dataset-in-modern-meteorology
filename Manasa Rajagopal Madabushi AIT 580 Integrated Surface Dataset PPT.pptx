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embeddedFontLst>
    <p:embeddedFont>
      <p:font typeface="Roboto" panose="02000000000000000000" pitchFamily="2" charset="0"/>
      <p:regular r:id="rId9"/>
      <p:bold r:id="rId10"/>
      <p:italic r:id="rId11"/>
      <p:boldItalic r:id="rId12"/>
    </p:embeddedFont>
    <p:embeddedFont>
      <p:font typeface="Source Code Pro" panose="020B0509030403020204" pitchFamily="49"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336494-8ABB-4CF2-9DD2-1EB19DE6EA8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F4D15EE-AC15-4F7D-A62B-2044C5DB87A3}">
      <dgm:prSet/>
      <dgm:spPr/>
      <dgm:t>
        <a:bodyPr/>
        <a:lstStyle/>
        <a:p>
          <a:pPr>
            <a:lnSpc>
              <a:spcPct val="100000"/>
            </a:lnSpc>
          </a:pPr>
          <a:r>
            <a:rPr lang="en-US"/>
            <a:t>Following steps are used :</a:t>
          </a:r>
        </a:p>
      </dgm:t>
    </dgm:pt>
    <dgm:pt modelId="{61A12E28-F031-47CF-A5B8-6BAFA3A9E75B}" type="parTrans" cxnId="{430E61FD-F2E3-425C-A390-B9533CC5C572}">
      <dgm:prSet/>
      <dgm:spPr/>
      <dgm:t>
        <a:bodyPr/>
        <a:lstStyle/>
        <a:p>
          <a:endParaRPr lang="en-US"/>
        </a:p>
      </dgm:t>
    </dgm:pt>
    <dgm:pt modelId="{9719A02C-E8FA-40FE-B6B3-02E381B6CA39}" type="sibTrans" cxnId="{430E61FD-F2E3-425C-A390-B9533CC5C572}">
      <dgm:prSet/>
      <dgm:spPr/>
      <dgm:t>
        <a:bodyPr/>
        <a:lstStyle/>
        <a:p>
          <a:endParaRPr lang="en-US"/>
        </a:p>
      </dgm:t>
    </dgm:pt>
    <dgm:pt modelId="{14F81E81-C77C-4B2A-AF3E-094F3BB24794}">
      <dgm:prSet/>
      <dgm:spPr/>
      <dgm:t>
        <a:bodyPr/>
        <a:lstStyle/>
        <a:p>
          <a:pPr>
            <a:lnSpc>
              <a:spcPct val="100000"/>
            </a:lnSpc>
          </a:pPr>
          <a:r>
            <a:rPr lang="en-US" dirty="0"/>
            <a:t>Step 1: Python is used for data cleaning, focusing on handling null values in categorical variables.</a:t>
          </a:r>
        </a:p>
      </dgm:t>
    </dgm:pt>
    <dgm:pt modelId="{B092AF8F-E8D7-4172-9D88-6C61D838E15F}" type="parTrans" cxnId="{75F7D03B-28EA-45A4-9CC9-DBA312AD2B99}">
      <dgm:prSet/>
      <dgm:spPr/>
      <dgm:t>
        <a:bodyPr/>
        <a:lstStyle/>
        <a:p>
          <a:endParaRPr lang="en-US"/>
        </a:p>
      </dgm:t>
    </dgm:pt>
    <dgm:pt modelId="{EAF7EC19-A377-4B73-A05A-2BC48D2AA526}" type="sibTrans" cxnId="{75F7D03B-28EA-45A4-9CC9-DBA312AD2B99}">
      <dgm:prSet/>
      <dgm:spPr/>
      <dgm:t>
        <a:bodyPr/>
        <a:lstStyle/>
        <a:p>
          <a:endParaRPr lang="en-US"/>
        </a:p>
      </dgm:t>
    </dgm:pt>
    <dgm:pt modelId="{DB491FCF-3F2E-48C0-9E2C-6974071ECFB7}">
      <dgm:prSet/>
      <dgm:spPr/>
      <dgm:t>
        <a:bodyPr/>
        <a:lstStyle/>
        <a:p>
          <a:pPr>
            <a:lnSpc>
              <a:spcPct val="100000"/>
            </a:lnSpc>
          </a:pPr>
          <a:r>
            <a:rPr lang="en-US" dirty="0"/>
            <a:t>Step 2: Statistical analysis, including visualization, was conducted using Python, Seaborn, and Matplotlib.</a:t>
          </a:r>
        </a:p>
      </dgm:t>
    </dgm:pt>
    <dgm:pt modelId="{204F8073-0341-45A6-8F83-26B0AE483722}" type="parTrans" cxnId="{F53C51D7-D384-4417-B8A6-45B21C2F7EA0}">
      <dgm:prSet/>
      <dgm:spPr/>
      <dgm:t>
        <a:bodyPr/>
        <a:lstStyle/>
        <a:p>
          <a:endParaRPr lang="en-US"/>
        </a:p>
      </dgm:t>
    </dgm:pt>
    <dgm:pt modelId="{FF91DDF7-5884-4AB3-BE11-9AAC6D0DFA66}" type="sibTrans" cxnId="{F53C51D7-D384-4417-B8A6-45B21C2F7EA0}">
      <dgm:prSet/>
      <dgm:spPr/>
      <dgm:t>
        <a:bodyPr/>
        <a:lstStyle/>
        <a:p>
          <a:endParaRPr lang="en-US"/>
        </a:p>
      </dgm:t>
    </dgm:pt>
    <dgm:pt modelId="{01C242AC-C69E-45FD-9AA4-9E83146F1B2B}">
      <dgm:prSet/>
      <dgm:spPr/>
      <dgm:t>
        <a:bodyPr/>
        <a:lstStyle/>
        <a:p>
          <a:pPr>
            <a:lnSpc>
              <a:spcPct val="100000"/>
            </a:lnSpc>
          </a:pPr>
          <a:r>
            <a:rPr lang="en-US"/>
            <a:t>Step 3: R was employed to create stacked bar plots and additional visualizations.</a:t>
          </a:r>
        </a:p>
      </dgm:t>
    </dgm:pt>
    <dgm:pt modelId="{8D9BB104-17D8-495E-AC49-6B6D5E0EAB0F}" type="parTrans" cxnId="{6F06E4DA-9845-4EA8-B1E2-74FBDB84F2AD}">
      <dgm:prSet/>
      <dgm:spPr/>
      <dgm:t>
        <a:bodyPr/>
        <a:lstStyle/>
        <a:p>
          <a:endParaRPr lang="en-US"/>
        </a:p>
      </dgm:t>
    </dgm:pt>
    <dgm:pt modelId="{22E8A583-DAEA-4B8D-978D-654D0BA95F27}" type="sibTrans" cxnId="{6F06E4DA-9845-4EA8-B1E2-74FBDB84F2AD}">
      <dgm:prSet/>
      <dgm:spPr/>
      <dgm:t>
        <a:bodyPr/>
        <a:lstStyle/>
        <a:p>
          <a:endParaRPr lang="en-US"/>
        </a:p>
      </dgm:t>
    </dgm:pt>
    <dgm:pt modelId="{A6222791-4829-41E2-95E9-2DD7DDF4085D}">
      <dgm:prSet/>
      <dgm:spPr/>
      <dgm:t>
        <a:bodyPr/>
        <a:lstStyle/>
        <a:p>
          <a:pPr>
            <a:lnSpc>
              <a:spcPct val="100000"/>
            </a:lnSpc>
          </a:pPr>
          <a:r>
            <a:rPr lang="en-US" dirty="0"/>
            <a:t>Step 4 :Used Amazon RDS and  MySQL Workbench was utilized for dataset analysis and extraction of insightful information.</a:t>
          </a:r>
        </a:p>
      </dgm:t>
    </dgm:pt>
    <dgm:pt modelId="{AFED0931-0AED-4D05-8F6D-46197B0337C7}" type="parTrans" cxnId="{3C2E2969-30B5-424A-A7D2-E91CD96E37BA}">
      <dgm:prSet/>
      <dgm:spPr/>
      <dgm:t>
        <a:bodyPr/>
        <a:lstStyle/>
        <a:p>
          <a:endParaRPr lang="en-US"/>
        </a:p>
      </dgm:t>
    </dgm:pt>
    <dgm:pt modelId="{7ED7CA62-AD0C-4A45-858B-E0EF399F4767}" type="sibTrans" cxnId="{3C2E2969-30B5-424A-A7D2-E91CD96E37BA}">
      <dgm:prSet/>
      <dgm:spPr/>
      <dgm:t>
        <a:bodyPr/>
        <a:lstStyle/>
        <a:p>
          <a:endParaRPr lang="en-US"/>
        </a:p>
      </dgm:t>
    </dgm:pt>
    <dgm:pt modelId="{217EB501-0332-4E15-BFEA-26D298D1A790}">
      <dgm:prSet/>
      <dgm:spPr/>
      <dgm:t>
        <a:bodyPr/>
        <a:lstStyle/>
        <a:p>
          <a:pPr>
            <a:lnSpc>
              <a:spcPct val="100000"/>
            </a:lnSpc>
          </a:pPr>
          <a:r>
            <a:rPr lang="en-US" dirty="0"/>
            <a:t>Step 5 : Amazon AWS S3  was leveraged for storage and management of the dataset.</a:t>
          </a:r>
        </a:p>
      </dgm:t>
    </dgm:pt>
    <dgm:pt modelId="{0C7B35B6-1383-4715-AD48-AD4416B95AA7}" type="parTrans" cxnId="{109FF920-A94A-4F33-9D2A-A787B6B9D9F0}">
      <dgm:prSet/>
      <dgm:spPr/>
      <dgm:t>
        <a:bodyPr/>
        <a:lstStyle/>
        <a:p>
          <a:endParaRPr lang="en-US"/>
        </a:p>
      </dgm:t>
    </dgm:pt>
    <dgm:pt modelId="{1E6662D9-8C45-4070-A4EE-B44F37F23E9C}" type="sibTrans" cxnId="{109FF920-A94A-4F33-9D2A-A787B6B9D9F0}">
      <dgm:prSet/>
      <dgm:spPr/>
      <dgm:t>
        <a:bodyPr/>
        <a:lstStyle/>
        <a:p>
          <a:endParaRPr lang="en-US"/>
        </a:p>
      </dgm:t>
    </dgm:pt>
    <dgm:pt modelId="{AC2558A6-718A-4717-B4EA-C85454657461}" type="pres">
      <dgm:prSet presAssocID="{4B336494-8ABB-4CF2-9DD2-1EB19DE6EA82}" presName="root" presStyleCnt="0">
        <dgm:presLayoutVars>
          <dgm:dir/>
          <dgm:resizeHandles val="exact"/>
        </dgm:presLayoutVars>
      </dgm:prSet>
      <dgm:spPr/>
    </dgm:pt>
    <dgm:pt modelId="{E66A3D72-765D-4319-BD84-A7F81C660222}" type="pres">
      <dgm:prSet presAssocID="{EF4D15EE-AC15-4F7D-A62B-2044C5DB87A3}" presName="compNode" presStyleCnt="0"/>
      <dgm:spPr/>
    </dgm:pt>
    <dgm:pt modelId="{8D6B0ED2-561D-4130-A313-87CE2E40F83B}" type="pres">
      <dgm:prSet presAssocID="{EF4D15EE-AC15-4F7D-A62B-2044C5DB87A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otprints"/>
        </a:ext>
      </dgm:extLst>
    </dgm:pt>
    <dgm:pt modelId="{015BFF72-D24A-4EF5-A626-2B9C95451CF5}" type="pres">
      <dgm:prSet presAssocID="{EF4D15EE-AC15-4F7D-A62B-2044C5DB87A3}" presName="spaceRect" presStyleCnt="0"/>
      <dgm:spPr/>
    </dgm:pt>
    <dgm:pt modelId="{A9CDB957-A309-4FEF-A0D6-ADA912409C8A}" type="pres">
      <dgm:prSet presAssocID="{EF4D15EE-AC15-4F7D-A62B-2044C5DB87A3}" presName="textRect" presStyleLbl="revTx" presStyleIdx="0" presStyleCnt="6">
        <dgm:presLayoutVars>
          <dgm:chMax val="1"/>
          <dgm:chPref val="1"/>
        </dgm:presLayoutVars>
      </dgm:prSet>
      <dgm:spPr/>
    </dgm:pt>
    <dgm:pt modelId="{E304E868-1961-49A1-AD1D-B40D584E77BD}" type="pres">
      <dgm:prSet presAssocID="{9719A02C-E8FA-40FE-B6B3-02E381B6CA39}" presName="sibTrans" presStyleCnt="0"/>
      <dgm:spPr/>
    </dgm:pt>
    <dgm:pt modelId="{D0576C07-523E-445B-A7E3-50991423458D}" type="pres">
      <dgm:prSet presAssocID="{14F81E81-C77C-4B2A-AF3E-094F3BB24794}" presName="compNode" presStyleCnt="0"/>
      <dgm:spPr/>
    </dgm:pt>
    <dgm:pt modelId="{DF5A3281-59E6-4332-A18B-0C425DFF2526}" type="pres">
      <dgm:prSet presAssocID="{14F81E81-C77C-4B2A-AF3E-094F3BB2479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ble"/>
        </a:ext>
      </dgm:extLst>
    </dgm:pt>
    <dgm:pt modelId="{7AD7F876-2CA6-47A6-A920-588DA8A35AB3}" type="pres">
      <dgm:prSet presAssocID="{14F81E81-C77C-4B2A-AF3E-094F3BB24794}" presName="spaceRect" presStyleCnt="0"/>
      <dgm:spPr/>
    </dgm:pt>
    <dgm:pt modelId="{D892AF7F-6CD8-4B17-AA68-3FAB0D514847}" type="pres">
      <dgm:prSet presAssocID="{14F81E81-C77C-4B2A-AF3E-094F3BB24794}" presName="textRect" presStyleLbl="revTx" presStyleIdx="1" presStyleCnt="6">
        <dgm:presLayoutVars>
          <dgm:chMax val="1"/>
          <dgm:chPref val="1"/>
        </dgm:presLayoutVars>
      </dgm:prSet>
      <dgm:spPr/>
    </dgm:pt>
    <dgm:pt modelId="{4C1468F5-AF91-473E-8CE0-D0C6A6378E18}" type="pres">
      <dgm:prSet presAssocID="{EAF7EC19-A377-4B73-A05A-2BC48D2AA526}" presName="sibTrans" presStyleCnt="0"/>
      <dgm:spPr/>
    </dgm:pt>
    <dgm:pt modelId="{129B9666-50DA-482C-9833-DA3F8D619D04}" type="pres">
      <dgm:prSet presAssocID="{DB491FCF-3F2E-48C0-9E2C-6974071ECFB7}" presName="compNode" presStyleCnt="0"/>
      <dgm:spPr/>
    </dgm:pt>
    <dgm:pt modelId="{C3EE59BD-D5BA-47BD-A9C2-C4083D55E0E9}" type="pres">
      <dgm:prSet presAssocID="{DB491FCF-3F2E-48C0-9E2C-6974071ECFB7}" presName="iconRect" presStyleLbl="node1" presStyleIdx="2" presStyleCnt="6" custLinFactX="100000" custLinFactNeighborX="173063" custLinFactNeighborY="-1756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grammer"/>
        </a:ext>
      </dgm:extLst>
    </dgm:pt>
    <dgm:pt modelId="{56D3B00E-F838-40E9-AAE7-64E36987C2F5}" type="pres">
      <dgm:prSet presAssocID="{DB491FCF-3F2E-48C0-9E2C-6974071ECFB7}" presName="spaceRect" presStyleCnt="0"/>
      <dgm:spPr/>
    </dgm:pt>
    <dgm:pt modelId="{8B9CDF91-54C0-4354-B55A-92FBC6D8AF01}" type="pres">
      <dgm:prSet presAssocID="{DB491FCF-3F2E-48C0-9E2C-6974071ECFB7}" presName="textRect" presStyleLbl="revTx" presStyleIdx="2" presStyleCnt="6">
        <dgm:presLayoutVars>
          <dgm:chMax val="1"/>
          <dgm:chPref val="1"/>
        </dgm:presLayoutVars>
      </dgm:prSet>
      <dgm:spPr/>
    </dgm:pt>
    <dgm:pt modelId="{43A3F82E-C7F4-49E8-AFBC-A1C4378FA291}" type="pres">
      <dgm:prSet presAssocID="{FF91DDF7-5884-4AB3-BE11-9AAC6D0DFA66}" presName="sibTrans" presStyleCnt="0"/>
      <dgm:spPr/>
    </dgm:pt>
    <dgm:pt modelId="{154A2504-B2FF-4541-8254-282D78C4E7DE}" type="pres">
      <dgm:prSet presAssocID="{01C242AC-C69E-45FD-9AA4-9E83146F1B2B}" presName="compNode" presStyleCnt="0"/>
      <dgm:spPr/>
    </dgm:pt>
    <dgm:pt modelId="{1819A5BD-8104-41C2-9FC4-5579D9C484BD}" type="pres">
      <dgm:prSet presAssocID="{01C242AC-C69E-45FD-9AA4-9E83146F1B2B}" presName="iconRect" presStyleLbl="node1" presStyleIdx="3" presStyleCnt="6" custLinFactX="100000" custLinFactNeighborX="168738" custLinFactNeighborY="-1780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tabase"/>
        </a:ext>
      </dgm:extLst>
    </dgm:pt>
    <dgm:pt modelId="{8E955B55-4411-44FF-BC82-7DAE7BA9FFAF}" type="pres">
      <dgm:prSet presAssocID="{01C242AC-C69E-45FD-9AA4-9E83146F1B2B}" presName="spaceRect" presStyleCnt="0"/>
      <dgm:spPr/>
    </dgm:pt>
    <dgm:pt modelId="{78F06984-31F9-4AB1-9A52-70E65543A3E6}" type="pres">
      <dgm:prSet presAssocID="{01C242AC-C69E-45FD-9AA4-9E83146F1B2B}" presName="textRect" presStyleLbl="revTx" presStyleIdx="3" presStyleCnt="6">
        <dgm:presLayoutVars>
          <dgm:chMax val="1"/>
          <dgm:chPref val="1"/>
        </dgm:presLayoutVars>
      </dgm:prSet>
      <dgm:spPr/>
    </dgm:pt>
    <dgm:pt modelId="{10A9CC45-3770-42DE-8067-5B5E84ACDF50}" type="pres">
      <dgm:prSet presAssocID="{22E8A583-DAEA-4B8D-978D-654D0BA95F27}" presName="sibTrans" presStyleCnt="0"/>
      <dgm:spPr/>
    </dgm:pt>
    <dgm:pt modelId="{BD691DDB-7297-456C-A2CE-5215F457649F}" type="pres">
      <dgm:prSet presAssocID="{A6222791-4829-41E2-95E9-2DD7DDF4085D}" presName="compNode" presStyleCnt="0"/>
      <dgm:spPr/>
    </dgm:pt>
    <dgm:pt modelId="{3A2048A6-83A4-485F-BD2D-BBF5CC1C4F6F}" type="pres">
      <dgm:prSet presAssocID="{A6222791-4829-41E2-95E9-2DD7DDF4085D}" presName="iconRect" presStyleLbl="node1" presStyleIdx="4" presStyleCnt="6" custLinFactX="-232131" custLinFactNeighborX="-300000" custLinFactNeighborY="-878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tatistics"/>
        </a:ext>
      </dgm:extLst>
    </dgm:pt>
    <dgm:pt modelId="{55DBE812-BCE3-456F-B53C-3C2E76D17F61}" type="pres">
      <dgm:prSet presAssocID="{A6222791-4829-41E2-95E9-2DD7DDF4085D}" presName="spaceRect" presStyleCnt="0"/>
      <dgm:spPr/>
    </dgm:pt>
    <dgm:pt modelId="{DE5CDD9D-CE50-49C6-8BBA-911E3012ECB4}" type="pres">
      <dgm:prSet presAssocID="{A6222791-4829-41E2-95E9-2DD7DDF4085D}" presName="textRect" presStyleLbl="revTx" presStyleIdx="4" presStyleCnt="6">
        <dgm:presLayoutVars>
          <dgm:chMax val="1"/>
          <dgm:chPref val="1"/>
        </dgm:presLayoutVars>
      </dgm:prSet>
      <dgm:spPr/>
    </dgm:pt>
    <dgm:pt modelId="{673236D8-3351-4897-B9EA-17482770F1F9}" type="pres">
      <dgm:prSet presAssocID="{7ED7CA62-AD0C-4A45-858B-E0EF399F4767}" presName="sibTrans" presStyleCnt="0"/>
      <dgm:spPr/>
    </dgm:pt>
    <dgm:pt modelId="{1B2972DA-0A81-433C-B968-9EDF55FA2B51}" type="pres">
      <dgm:prSet presAssocID="{217EB501-0332-4E15-BFEA-26D298D1A790}" presName="compNode" presStyleCnt="0"/>
      <dgm:spPr/>
    </dgm:pt>
    <dgm:pt modelId="{2EC4CBF8-97F7-43D7-8E77-622D5A2DE1D2}" type="pres">
      <dgm:prSet presAssocID="{217EB501-0332-4E15-BFEA-26D298D1A790}"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Syncing Cloud"/>
        </a:ext>
      </dgm:extLst>
    </dgm:pt>
    <dgm:pt modelId="{37EB7669-5B38-4F38-87F4-828E0950DC89}" type="pres">
      <dgm:prSet presAssocID="{217EB501-0332-4E15-BFEA-26D298D1A790}" presName="spaceRect" presStyleCnt="0"/>
      <dgm:spPr/>
    </dgm:pt>
    <dgm:pt modelId="{8913313C-DCD7-4B50-8C06-E0B52F365C90}" type="pres">
      <dgm:prSet presAssocID="{217EB501-0332-4E15-BFEA-26D298D1A790}" presName="textRect" presStyleLbl="revTx" presStyleIdx="5" presStyleCnt="6">
        <dgm:presLayoutVars>
          <dgm:chMax val="1"/>
          <dgm:chPref val="1"/>
        </dgm:presLayoutVars>
      </dgm:prSet>
      <dgm:spPr/>
    </dgm:pt>
  </dgm:ptLst>
  <dgm:cxnLst>
    <dgm:cxn modelId="{109FF920-A94A-4F33-9D2A-A787B6B9D9F0}" srcId="{4B336494-8ABB-4CF2-9DD2-1EB19DE6EA82}" destId="{217EB501-0332-4E15-BFEA-26D298D1A790}" srcOrd="5" destOrd="0" parTransId="{0C7B35B6-1383-4715-AD48-AD4416B95AA7}" sibTransId="{1E6662D9-8C45-4070-A4EE-B44F37F23E9C}"/>
    <dgm:cxn modelId="{75F7D03B-28EA-45A4-9CC9-DBA312AD2B99}" srcId="{4B336494-8ABB-4CF2-9DD2-1EB19DE6EA82}" destId="{14F81E81-C77C-4B2A-AF3E-094F3BB24794}" srcOrd="1" destOrd="0" parTransId="{B092AF8F-E8D7-4172-9D88-6C61D838E15F}" sibTransId="{EAF7EC19-A377-4B73-A05A-2BC48D2AA526}"/>
    <dgm:cxn modelId="{03CE4A67-C7A7-4C9B-919F-6204924A2850}" type="presOf" srcId="{EF4D15EE-AC15-4F7D-A62B-2044C5DB87A3}" destId="{A9CDB957-A309-4FEF-A0D6-ADA912409C8A}" srcOrd="0" destOrd="0" presId="urn:microsoft.com/office/officeart/2018/2/layout/IconLabelList"/>
    <dgm:cxn modelId="{3C2E2969-30B5-424A-A7D2-E91CD96E37BA}" srcId="{4B336494-8ABB-4CF2-9DD2-1EB19DE6EA82}" destId="{A6222791-4829-41E2-95E9-2DD7DDF4085D}" srcOrd="4" destOrd="0" parTransId="{AFED0931-0AED-4D05-8F6D-46197B0337C7}" sibTransId="{7ED7CA62-AD0C-4A45-858B-E0EF399F4767}"/>
    <dgm:cxn modelId="{3C0CF26D-2158-4009-BFC6-2D56D6BAB78C}" type="presOf" srcId="{217EB501-0332-4E15-BFEA-26D298D1A790}" destId="{8913313C-DCD7-4B50-8C06-E0B52F365C90}" srcOrd="0" destOrd="0" presId="urn:microsoft.com/office/officeart/2018/2/layout/IconLabelList"/>
    <dgm:cxn modelId="{14DDACA8-A6F9-4831-A8F1-75F089E30DE5}" type="presOf" srcId="{14F81E81-C77C-4B2A-AF3E-094F3BB24794}" destId="{D892AF7F-6CD8-4B17-AA68-3FAB0D514847}" srcOrd="0" destOrd="0" presId="urn:microsoft.com/office/officeart/2018/2/layout/IconLabelList"/>
    <dgm:cxn modelId="{19A59AB6-287B-42BE-96D4-07EDAD45AD73}" type="presOf" srcId="{DB491FCF-3F2E-48C0-9E2C-6974071ECFB7}" destId="{8B9CDF91-54C0-4354-B55A-92FBC6D8AF01}" srcOrd="0" destOrd="0" presId="urn:microsoft.com/office/officeart/2018/2/layout/IconLabelList"/>
    <dgm:cxn modelId="{882279CA-5D7C-40B6-999B-7D7BC5B077C9}" type="presOf" srcId="{01C242AC-C69E-45FD-9AA4-9E83146F1B2B}" destId="{78F06984-31F9-4AB1-9A52-70E65543A3E6}" srcOrd="0" destOrd="0" presId="urn:microsoft.com/office/officeart/2018/2/layout/IconLabelList"/>
    <dgm:cxn modelId="{11562CCB-7F5D-428E-8F14-E93F9423A2E7}" type="presOf" srcId="{4B336494-8ABB-4CF2-9DD2-1EB19DE6EA82}" destId="{AC2558A6-718A-4717-B4EA-C85454657461}" srcOrd="0" destOrd="0" presId="urn:microsoft.com/office/officeart/2018/2/layout/IconLabelList"/>
    <dgm:cxn modelId="{F53C51D7-D384-4417-B8A6-45B21C2F7EA0}" srcId="{4B336494-8ABB-4CF2-9DD2-1EB19DE6EA82}" destId="{DB491FCF-3F2E-48C0-9E2C-6974071ECFB7}" srcOrd="2" destOrd="0" parTransId="{204F8073-0341-45A6-8F83-26B0AE483722}" sibTransId="{FF91DDF7-5884-4AB3-BE11-9AAC6D0DFA66}"/>
    <dgm:cxn modelId="{6F06E4DA-9845-4EA8-B1E2-74FBDB84F2AD}" srcId="{4B336494-8ABB-4CF2-9DD2-1EB19DE6EA82}" destId="{01C242AC-C69E-45FD-9AA4-9E83146F1B2B}" srcOrd="3" destOrd="0" parTransId="{8D9BB104-17D8-495E-AC49-6B6D5E0EAB0F}" sibTransId="{22E8A583-DAEA-4B8D-978D-654D0BA95F27}"/>
    <dgm:cxn modelId="{7A26FCE2-F885-4B4C-87ED-8E693A654B36}" type="presOf" srcId="{A6222791-4829-41E2-95E9-2DD7DDF4085D}" destId="{DE5CDD9D-CE50-49C6-8BBA-911E3012ECB4}" srcOrd="0" destOrd="0" presId="urn:microsoft.com/office/officeart/2018/2/layout/IconLabelList"/>
    <dgm:cxn modelId="{430E61FD-F2E3-425C-A390-B9533CC5C572}" srcId="{4B336494-8ABB-4CF2-9DD2-1EB19DE6EA82}" destId="{EF4D15EE-AC15-4F7D-A62B-2044C5DB87A3}" srcOrd="0" destOrd="0" parTransId="{61A12E28-F031-47CF-A5B8-6BAFA3A9E75B}" sibTransId="{9719A02C-E8FA-40FE-B6B3-02E381B6CA39}"/>
    <dgm:cxn modelId="{1652DDBE-7E86-4545-AD72-8C2054F4C466}" type="presParOf" srcId="{AC2558A6-718A-4717-B4EA-C85454657461}" destId="{E66A3D72-765D-4319-BD84-A7F81C660222}" srcOrd="0" destOrd="0" presId="urn:microsoft.com/office/officeart/2018/2/layout/IconLabelList"/>
    <dgm:cxn modelId="{973C8BBE-6F05-44FA-B8F1-1AF2DC2EF721}" type="presParOf" srcId="{E66A3D72-765D-4319-BD84-A7F81C660222}" destId="{8D6B0ED2-561D-4130-A313-87CE2E40F83B}" srcOrd="0" destOrd="0" presId="urn:microsoft.com/office/officeart/2018/2/layout/IconLabelList"/>
    <dgm:cxn modelId="{4EB0C011-82D3-4FED-B662-EAF303DD3495}" type="presParOf" srcId="{E66A3D72-765D-4319-BD84-A7F81C660222}" destId="{015BFF72-D24A-4EF5-A626-2B9C95451CF5}" srcOrd="1" destOrd="0" presId="urn:microsoft.com/office/officeart/2018/2/layout/IconLabelList"/>
    <dgm:cxn modelId="{BEFBA447-0E8B-434A-840E-641868FB0E1B}" type="presParOf" srcId="{E66A3D72-765D-4319-BD84-A7F81C660222}" destId="{A9CDB957-A309-4FEF-A0D6-ADA912409C8A}" srcOrd="2" destOrd="0" presId="urn:microsoft.com/office/officeart/2018/2/layout/IconLabelList"/>
    <dgm:cxn modelId="{BFB76452-52D7-419C-9E27-99E44964CB8A}" type="presParOf" srcId="{AC2558A6-718A-4717-B4EA-C85454657461}" destId="{E304E868-1961-49A1-AD1D-B40D584E77BD}" srcOrd="1" destOrd="0" presId="urn:microsoft.com/office/officeart/2018/2/layout/IconLabelList"/>
    <dgm:cxn modelId="{A0A96EC5-3EB0-410F-9663-A7F5BCEE69F0}" type="presParOf" srcId="{AC2558A6-718A-4717-B4EA-C85454657461}" destId="{D0576C07-523E-445B-A7E3-50991423458D}" srcOrd="2" destOrd="0" presId="urn:microsoft.com/office/officeart/2018/2/layout/IconLabelList"/>
    <dgm:cxn modelId="{7CFF253E-01BD-458E-B41A-E414FF831010}" type="presParOf" srcId="{D0576C07-523E-445B-A7E3-50991423458D}" destId="{DF5A3281-59E6-4332-A18B-0C425DFF2526}" srcOrd="0" destOrd="0" presId="urn:microsoft.com/office/officeart/2018/2/layout/IconLabelList"/>
    <dgm:cxn modelId="{2F94DEEA-82EA-4EDB-BA89-CC7C79A47DD9}" type="presParOf" srcId="{D0576C07-523E-445B-A7E3-50991423458D}" destId="{7AD7F876-2CA6-47A6-A920-588DA8A35AB3}" srcOrd="1" destOrd="0" presId="urn:microsoft.com/office/officeart/2018/2/layout/IconLabelList"/>
    <dgm:cxn modelId="{B8767C68-B81F-44AF-B00C-DB5D541443F9}" type="presParOf" srcId="{D0576C07-523E-445B-A7E3-50991423458D}" destId="{D892AF7F-6CD8-4B17-AA68-3FAB0D514847}" srcOrd="2" destOrd="0" presId="urn:microsoft.com/office/officeart/2018/2/layout/IconLabelList"/>
    <dgm:cxn modelId="{EC6B6D81-DEFE-41C7-AB87-7F97846BDB05}" type="presParOf" srcId="{AC2558A6-718A-4717-B4EA-C85454657461}" destId="{4C1468F5-AF91-473E-8CE0-D0C6A6378E18}" srcOrd="3" destOrd="0" presId="urn:microsoft.com/office/officeart/2018/2/layout/IconLabelList"/>
    <dgm:cxn modelId="{32C8F02F-9ED5-45F1-A751-831B34B62259}" type="presParOf" srcId="{AC2558A6-718A-4717-B4EA-C85454657461}" destId="{129B9666-50DA-482C-9833-DA3F8D619D04}" srcOrd="4" destOrd="0" presId="urn:microsoft.com/office/officeart/2018/2/layout/IconLabelList"/>
    <dgm:cxn modelId="{432378AB-BAF0-4021-9226-F0BA72EC1DC8}" type="presParOf" srcId="{129B9666-50DA-482C-9833-DA3F8D619D04}" destId="{C3EE59BD-D5BA-47BD-A9C2-C4083D55E0E9}" srcOrd="0" destOrd="0" presId="urn:microsoft.com/office/officeart/2018/2/layout/IconLabelList"/>
    <dgm:cxn modelId="{B839931E-AA8B-4A0A-808E-C7EE5A15D102}" type="presParOf" srcId="{129B9666-50DA-482C-9833-DA3F8D619D04}" destId="{56D3B00E-F838-40E9-AAE7-64E36987C2F5}" srcOrd="1" destOrd="0" presId="urn:microsoft.com/office/officeart/2018/2/layout/IconLabelList"/>
    <dgm:cxn modelId="{5913D158-744F-4834-8C68-0179A9020746}" type="presParOf" srcId="{129B9666-50DA-482C-9833-DA3F8D619D04}" destId="{8B9CDF91-54C0-4354-B55A-92FBC6D8AF01}" srcOrd="2" destOrd="0" presId="urn:microsoft.com/office/officeart/2018/2/layout/IconLabelList"/>
    <dgm:cxn modelId="{E8AB149B-A4F6-4039-86B5-A793FDFADBF2}" type="presParOf" srcId="{AC2558A6-718A-4717-B4EA-C85454657461}" destId="{43A3F82E-C7F4-49E8-AFBC-A1C4378FA291}" srcOrd="5" destOrd="0" presId="urn:microsoft.com/office/officeart/2018/2/layout/IconLabelList"/>
    <dgm:cxn modelId="{C1A39913-0A00-45A6-9C18-6E0443AFA077}" type="presParOf" srcId="{AC2558A6-718A-4717-B4EA-C85454657461}" destId="{154A2504-B2FF-4541-8254-282D78C4E7DE}" srcOrd="6" destOrd="0" presId="urn:microsoft.com/office/officeart/2018/2/layout/IconLabelList"/>
    <dgm:cxn modelId="{67CF7891-0A21-4FB2-9158-8560AD674D2B}" type="presParOf" srcId="{154A2504-B2FF-4541-8254-282D78C4E7DE}" destId="{1819A5BD-8104-41C2-9FC4-5579D9C484BD}" srcOrd="0" destOrd="0" presId="urn:microsoft.com/office/officeart/2018/2/layout/IconLabelList"/>
    <dgm:cxn modelId="{D7E17927-4ABE-4533-8328-FE810CA0A97A}" type="presParOf" srcId="{154A2504-B2FF-4541-8254-282D78C4E7DE}" destId="{8E955B55-4411-44FF-BC82-7DAE7BA9FFAF}" srcOrd="1" destOrd="0" presId="urn:microsoft.com/office/officeart/2018/2/layout/IconLabelList"/>
    <dgm:cxn modelId="{12C485EE-FDB5-4500-AD67-21CCEF5705EF}" type="presParOf" srcId="{154A2504-B2FF-4541-8254-282D78C4E7DE}" destId="{78F06984-31F9-4AB1-9A52-70E65543A3E6}" srcOrd="2" destOrd="0" presId="urn:microsoft.com/office/officeart/2018/2/layout/IconLabelList"/>
    <dgm:cxn modelId="{A197DAED-E89C-4A6F-8701-246A34A9A5CB}" type="presParOf" srcId="{AC2558A6-718A-4717-B4EA-C85454657461}" destId="{10A9CC45-3770-42DE-8067-5B5E84ACDF50}" srcOrd="7" destOrd="0" presId="urn:microsoft.com/office/officeart/2018/2/layout/IconLabelList"/>
    <dgm:cxn modelId="{79ECF703-6EB2-4CCC-88FF-DAD5E6C4EB79}" type="presParOf" srcId="{AC2558A6-718A-4717-B4EA-C85454657461}" destId="{BD691DDB-7297-456C-A2CE-5215F457649F}" srcOrd="8" destOrd="0" presId="urn:microsoft.com/office/officeart/2018/2/layout/IconLabelList"/>
    <dgm:cxn modelId="{DC342B34-6CFB-4F9C-881B-7B76A565E106}" type="presParOf" srcId="{BD691DDB-7297-456C-A2CE-5215F457649F}" destId="{3A2048A6-83A4-485F-BD2D-BBF5CC1C4F6F}" srcOrd="0" destOrd="0" presId="urn:microsoft.com/office/officeart/2018/2/layout/IconLabelList"/>
    <dgm:cxn modelId="{36B937EE-8000-4138-85A6-6191A5CB093C}" type="presParOf" srcId="{BD691DDB-7297-456C-A2CE-5215F457649F}" destId="{55DBE812-BCE3-456F-B53C-3C2E76D17F61}" srcOrd="1" destOrd="0" presId="urn:microsoft.com/office/officeart/2018/2/layout/IconLabelList"/>
    <dgm:cxn modelId="{4DED4D15-17E0-4402-9746-8397250AB946}" type="presParOf" srcId="{BD691DDB-7297-456C-A2CE-5215F457649F}" destId="{DE5CDD9D-CE50-49C6-8BBA-911E3012ECB4}" srcOrd="2" destOrd="0" presId="urn:microsoft.com/office/officeart/2018/2/layout/IconLabelList"/>
    <dgm:cxn modelId="{6CC50311-BA1A-4CD3-AB3F-8870AA2BB126}" type="presParOf" srcId="{AC2558A6-718A-4717-B4EA-C85454657461}" destId="{673236D8-3351-4897-B9EA-17482770F1F9}" srcOrd="9" destOrd="0" presId="urn:microsoft.com/office/officeart/2018/2/layout/IconLabelList"/>
    <dgm:cxn modelId="{8F9857D3-CAA7-4E9C-9BDE-433E2B61E4A8}" type="presParOf" srcId="{AC2558A6-718A-4717-B4EA-C85454657461}" destId="{1B2972DA-0A81-433C-B968-9EDF55FA2B51}" srcOrd="10" destOrd="0" presId="urn:microsoft.com/office/officeart/2018/2/layout/IconLabelList"/>
    <dgm:cxn modelId="{2661140C-670A-4882-BC84-1F23025BB781}" type="presParOf" srcId="{1B2972DA-0A81-433C-B968-9EDF55FA2B51}" destId="{2EC4CBF8-97F7-43D7-8E77-622D5A2DE1D2}" srcOrd="0" destOrd="0" presId="urn:microsoft.com/office/officeart/2018/2/layout/IconLabelList"/>
    <dgm:cxn modelId="{9907A1E4-E203-4330-9B09-93EC0F86A134}" type="presParOf" srcId="{1B2972DA-0A81-433C-B968-9EDF55FA2B51}" destId="{37EB7669-5B38-4F38-87F4-828E0950DC89}" srcOrd="1" destOrd="0" presId="urn:microsoft.com/office/officeart/2018/2/layout/IconLabelList"/>
    <dgm:cxn modelId="{52E21231-E562-4603-AC18-EA3609B890DD}" type="presParOf" srcId="{1B2972DA-0A81-433C-B968-9EDF55FA2B51}" destId="{8913313C-DCD7-4B50-8C06-E0B52F365C9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D59DB4-D341-461F-A876-EA63050FC900}"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21428939-88CA-4C4E-BCB4-F1E67BAC61DC}">
      <dgm:prSet/>
      <dgm:spPr/>
      <dgm:t>
        <a:bodyPr/>
        <a:lstStyle/>
        <a:p>
          <a:pPr>
            <a:lnSpc>
              <a:spcPct val="100000"/>
            </a:lnSpc>
            <a:defRPr cap="all"/>
          </a:pPr>
          <a:r>
            <a:rPr lang="en-US"/>
            <a:t>Recognizing the significance of data cleaning in ensuring accurate visualizations and meaningful data interpretation. </a:t>
          </a:r>
        </a:p>
      </dgm:t>
    </dgm:pt>
    <dgm:pt modelId="{187D94A1-5DF9-43AF-B079-F97B0560EDF8}" type="parTrans" cxnId="{EB57AFAF-0FFF-4EBB-BDA9-47B3285D76B2}">
      <dgm:prSet/>
      <dgm:spPr/>
      <dgm:t>
        <a:bodyPr/>
        <a:lstStyle/>
        <a:p>
          <a:endParaRPr lang="en-US"/>
        </a:p>
      </dgm:t>
    </dgm:pt>
    <dgm:pt modelId="{5A0BCF2C-9B59-4C10-AD55-EE55C9B4E409}" type="sibTrans" cxnId="{EB57AFAF-0FFF-4EBB-BDA9-47B3285D76B2}">
      <dgm:prSet/>
      <dgm:spPr/>
      <dgm:t>
        <a:bodyPr/>
        <a:lstStyle/>
        <a:p>
          <a:endParaRPr lang="en-US"/>
        </a:p>
      </dgm:t>
    </dgm:pt>
    <dgm:pt modelId="{527D56D7-EC17-4524-83B2-2BAFD1BF699A}">
      <dgm:prSet/>
      <dgm:spPr/>
      <dgm:t>
        <a:bodyPr/>
        <a:lstStyle/>
        <a:p>
          <a:pPr>
            <a:lnSpc>
              <a:spcPct val="100000"/>
            </a:lnSpc>
            <a:defRPr cap="all"/>
          </a:pPr>
          <a:r>
            <a:rPr lang="en-US"/>
            <a:t>Key Steps in Initiating a Research Project from the Ground Up. </a:t>
          </a:r>
        </a:p>
      </dgm:t>
    </dgm:pt>
    <dgm:pt modelId="{16074708-6184-41E6-8417-CB0F9D7516A9}" type="parTrans" cxnId="{BF79DEC7-BFE1-45DD-9596-6E96DF24E78E}">
      <dgm:prSet/>
      <dgm:spPr/>
      <dgm:t>
        <a:bodyPr/>
        <a:lstStyle/>
        <a:p>
          <a:endParaRPr lang="en-US"/>
        </a:p>
      </dgm:t>
    </dgm:pt>
    <dgm:pt modelId="{77605C79-4A9E-4C52-9C57-6753A4AD6BBB}" type="sibTrans" cxnId="{BF79DEC7-BFE1-45DD-9596-6E96DF24E78E}">
      <dgm:prSet/>
      <dgm:spPr/>
      <dgm:t>
        <a:bodyPr/>
        <a:lstStyle/>
        <a:p>
          <a:endParaRPr lang="en-US"/>
        </a:p>
      </dgm:t>
    </dgm:pt>
    <dgm:pt modelId="{4CD0FA23-351D-4C94-B9DC-E514307901B0}">
      <dgm:prSet/>
      <dgm:spPr/>
      <dgm:t>
        <a:bodyPr/>
        <a:lstStyle/>
        <a:p>
          <a:pPr>
            <a:lnSpc>
              <a:spcPct val="100000"/>
            </a:lnSpc>
            <a:defRPr cap="all"/>
          </a:pPr>
          <a:r>
            <a:rPr lang="en-US"/>
            <a:t>Utilizing Data Visualization and Statistical Analysis for Extracting Insights. </a:t>
          </a:r>
        </a:p>
      </dgm:t>
    </dgm:pt>
    <dgm:pt modelId="{7989B275-B17E-4DE6-A5B3-236D24B717A8}" type="parTrans" cxnId="{D6C188E2-64D9-4B50-B2C6-0FB420F44432}">
      <dgm:prSet/>
      <dgm:spPr/>
      <dgm:t>
        <a:bodyPr/>
        <a:lstStyle/>
        <a:p>
          <a:endParaRPr lang="en-US"/>
        </a:p>
      </dgm:t>
    </dgm:pt>
    <dgm:pt modelId="{80A724F1-4767-4854-AD0E-2C28B77693C9}" type="sibTrans" cxnId="{D6C188E2-64D9-4B50-B2C6-0FB420F44432}">
      <dgm:prSet/>
      <dgm:spPr/>
      <dgm:t>
        <a:bodyPr/>
        <a:lstStyle/>
        <a:p>
          <a:endParaRPr lang="en-US"/>
        </a:p>
      </dgm:t>
    </dgm:pt>
    <dgm:pt modelId="{D58F207A-EEA1-4D39-AC99-D17DD9C3AA3C}">
      <dgm:prSet/>
      <dgm:spPr/>
      <dgm:t>
        <a:bodyPr/>
        <a:lstStyle/>
        <a:p>
          <a:pPr>
            <a:lnSpc>
              <a:spcPct val="100000"/>
            </a:lnSpc>
            <a:defRPr cap="all"/>
          </a:pPr>
          <a:r>
            <a:rPr lang="en-US"/>
            <a:t>Interpreting Visualizations to Formulate Conclusions and Insights.</a:t>
          </a:r>
        </a:p>
      </dgm:t>
    </dgm:pt>
    <dgm:pt modelId="{2718C59F-90EC-4EF5-A590-ADF5AA359ABB}" type="parTrans" cxnId="{6741E4E0-ABEF-4AE9-A675-9421AE47AE15}">
      <dgm:prSet/>
      <dgm:spPr/>
      <dgm:t>
        <a:bodyPr/>
        <a:lstStyle/>
        <a:p>
          <a:endParaRPr lang="en-US"/>
        </a:p>
      </dgm:t>
    </dgm:pt>
    <dgm:pt modelId="{EDFD4FAE-B788-4FB3-89B5-9D3F14600917}" type="sibTrans" cxnId="{6741E4E0-ABEF-4AE9-A675-9421AE47AE15}">
      <dgm:prSet/>
      <dgm:spPr/>
      <dgm:t>
        <a:bodyPr/>
        <a:lstStyle/>
        <a:p>
          <a:endParaRPr lang="en-US"/>
        </a:p>
      </dgm:t>
    </dgm:pt>
    <dgm:pt modelId="{5BC5C299-681C-4206-8B95-B60B1D7E90E3}" type="pres">
      <dgm:prSet presAssocID="{8DD59DB4-D341-461F-A876-EA63050FC900}" presName="root" presStyleCnt="0">
        <dgm:presLayoutVars>
          <dgm:dir/>
          <dgm:resizeHandles val="exact"/>
        </dgm:presLayoutVars>
      </dgm:prSet>
      <dgm:spPr/>
    </dgm:pt>
    <dgm:pt modelId="{3129CDB7-C9F9-4CF1-B176-F770A11DBD85}" type="pres">
      <dgm:prSet presAssocID="{21428939-88CA-4C4E-BCB4-F1E67BAC61DC}" presName="compNode" presStyleCnt="0"/>
      <dgm:spPr/>
    </dgm:pt>
    <dgm:pt modelId="{1FC4B97D-2093-4887-860B-DFD1F90BE92F}" type="pres">
      <dgm:prSet presAssocID="{21428939-88CA-4C4E-BCB4-F1E67BAC61DC}" presName="iconBgRect" presStyleLbl="bgShp" presStyleIdx="0" presStyleCnt="4"/>
      <dgm:spPr/>
    </dgm:pt>
    <dgm:pt modelId="{ADB9135A-FF11-4524-B9BC-8A88A2DECD16}" type="pres">
      <dgm:prSet presAssocID="{21428939-88CA-4C4E-BCB4-F1E67BAC61D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A3D2826B-B55B-4B23-A249-C3EFEEA00F29}" type="pres">
      <dgm:prSet presAssocID="{21428939-88CA-4C4E-BCB4-F1E67BAC61DC}" presName="spaceRect" presStyleCnt="0"/>
      <dgm:spPr/>
    </dgm:pt>
    <dgm:pt modelId="{01F4C3F8-16E8-4517-B886-A3B6142515C5}" type="pres">
      <dgm:prSet presAssocID="{21428939-88CA-4C4E-BCB4-F1E67BAC61DC}" presName="textRect" presStyleLbl="revTx" presStyleIdx="0" presStyleCnt="4">
        <dgm:presLayoutVars>
          <dgm:chMax val="1"/>
          <dgm:chPref val="1"/>
        </dgm:presLayoutVars>
      </dgm:prSet>
      <dgm:spPr/>
    </dgm:pt>
    <dgm:pt modelId="{AA09EE27-A443-4C69-BB47-7C377724BED5}" type="pres">
      <dgm:prSet presAssocID="{5A0BCF2C-9B59-4C10-AD55-EE55C9B4E409}" presName="sibTrans" presStyleCnt="0"/>
      <dgm:spPr/>
    </dgm:pt>
    <dgm:pt modelId="{7F56D126-130C-423C-B075-1C9692B6A01B}" type="pres">
      <dgm:prSet presAssocID="{527D56D7-EC17-4524-83B2-2BAFD1BF699A}" presName="compNode" presStyleCnt="0"/>
      <dgm:spPr/>
    </dgm:pt>
    <dgm:pt modelId="{55B70485-8E03-4645-9E27-07C94F2D29AA}" type="pres">
      <dgm:prSet presAssocID="{527D56D7-EC17-4524-83B2-2BAFD1BF699A}" presName="iconBgRect" presStyleLbl="bgShp" presStyleIdx="1" presStyleCnt="4"/>
      <dgm:spPr/>
    </dgm:pt>
    <dgm:pt modelId="{ABF9B0D0-47E8-4DBD-A5FF-86FB9F62673D}" type="pres">
      <dgm:prSet presAssocID="{527D56D7-EC17-4524-83B2-2BAFD1BF699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 List"/>
        </a:ext>
      </dgm:extLst>
    </dgm:pt>
    <dgm:pt modelId="{5F09065E-48B1-4224-AC29-E370925384DA}" type="pres">
      <dgm:prSet presAssocID="{527D56D7-EC17-4524-83B2-2BAFD1BF699A}" presName="spaceRect" presStyleCnt="0"/>
      <dgm:spPr/>
    </dgm:pt>
    <dgm:pt modelId="{4907EE45-D236-4952-B104-692DB878EAA8}" type="pres">
      <dgm:prSet presAssocID="{527D56D7-EC17-4524-83B2-2BAFD1BF699A}" presName="textRect" presStyleLbl="revTx" presStyleIdx="1" presStyleCnt="4">
        <dgm:presLayoutVars>
          <dgm:chMax val="1"/>
          <dgm:chPref val="1"/>
        </dgm:presLayoutVars>
      </dgm:prSet>
      <dgm:spPr/>
    </dgm:pt>
    <dgm:pt modelId="{8CD26A7C-AAF8-4E79-8C18-76568752E45C}" type="pres">
      <dgm:prSet presAssocID="{77605C79-4A9E-4C52-9C57-6753A4AD6BBB}" presName="sibTrans" presStyleCnt="0"/>
      <dgm:spPr/>
    </dgm:pt>
    <dgm:pt modelId="{F2B8EDBB-C005-4A85-A4A0-BC4BF1E4DD0E}" type="pres">
      <dgm:prSet presAssocID="{4CD0FA23-351D-4C94-B9DC-E514307901B0}" presName="compNode" presStyleCnt="0"/>
      <dgm:spPr/>
    </dgm:pt>
    <dgm:pt modelId="{91187046-B1D5-4005-9A8A-DFD2C6E1A2A0}" type="pres">
      <dgm:prSet presAssocID="{4CD0FA23-351D-4C94-B9DC-E514307901B0}" presName="iconBgRect" presStyleLbl="bgShp" presStyleIdx="2" presStyleCnt="4"/>
      <dgm:spPr/>
    </dgm:pt>
    <dgm:pt modelId="{5BA7E07B-9DAD-4688-9069-B7120F0A62D0}" type="pres">
      <dgm:prSet presAssocID="{4CD0FA23-351D-4C94-B9DC-E514307901B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4ABFD199-9341-4FD6-9F8B-96FC466E43B8}" type="pres">
      <dgm:prSet presAssocID="{4CD0FA23-351D-4C94-B9DC-E514307901B0}" presName="spaceRect" presStyleCnt="0"/>
      <dgm:spPr/>
    </dgm:pt>
    <dgm:pt modelId="{BA05B809-FAB0-4025-986E-736C88D1C8D9}" type="pres">
      <dgm:prSet presAssocID="{4CD0FA23-351D-4C94-B9DC-E514307901B0}" presName="textRect" presStyleLbl="revTx" presStyleIdx="2" presStyleCnt="4">
        <dgm:presLayoutVars>
          <dgm:chMax val="1"/>
          <dgm:chPref val="1"/>
        </dgm:presLayoutVars>
      </dgm:prSet>
      <dgm:spPr/>
    </dgm:pt>
    <dgm:pt modelId="{4F3088C6-AC8E-466D-B6FB-16D07244557B}" type="pres">
      <dgm:prSet presAssocID="{80A724F1-4767-4854-AD0E-2C28B77693C9}" presName="sibTrans" presStyleCnt="0"/>
      <dgm:spPr/>
    </dgm:pt>
    <dgm:pt modelId="{F530E7A6-4F2E-492C-92A1-758389C60D02}" type="pres">
      <dgm:prSet presAssocID="{D58F207A-EEA1-4D39-AC99-D17DD9C3AA3C}" presName="compNode" presStyleCnt="0"/>
      <dgm:spPr/>
    </dgm:pt>
    <dgm:pt modelId="{4951E6A8-F345-4E9E-A897-9C976336A832}" type="pres">
      <dgm:prSet presAssocID="{D58F207A-EEA1-4D39-AC99-D17DD9C3AA3C}" presName="iconBgRect" presStyleLbl="bgShp" presStyleIdx="3" presStyleCnt="4"/>
      <dgm:spPr/>
    </dgm:pt>
    <dgm:pt modelId="{61942952-6EF2-4670-B00B-CEAD936899C7}" type="pres">
      <dgm:prSet presAssocID="{D58F207A-EEA1-4D39-AC99-D17DD9C3AA3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ie chart"/>
        </a:ext>
      </dgm:extLst>
    </dgm:pt>
    <dgm:pt modelId="{8E363D7A-6EA8-461B-9919-637B2329657D}" type="pres">
      <dgm:prSet presAssocID="{D58F207A-EEA1-4D39-AC99-D17DD9C3AA3C}" presName="spaceRect" presStyleCnt="0"/>
      <dgm:spPr/>
    </dgm:pt>
    <dgm:pt modelId="{250C265E-5DD1-4F52-8A51-B274AC1E8C87}" type="pres">
      <dgm:prSet presAssocID="{D58F207A-EEA1-4D39-AC99-D17DD9C3AA3C}" presName="textRect" presStyleLbl="revTx" presStyleIdx="3" presStyleCnt="4">
        <dgm:presLayoutVars>
          <dgm:chMax val="1"/>
          <dgm:chPref val="1"/>
        </dgm:presLayoutVars>
      </dgm:prSet>
      <dgm:spPr/>
    </dgm:pt>
  </dgm:ptLst>
  <dgm:cxnLst>
    <dgm:cxn modelId="{84567B13-7925-4EF3-8C2D-BA69090559D3}" type="presOf" srcId="{D58F207A-EEA1-4D39-AC99-D17DD9C3AA3C}" destId="{250C265E-5DD1-4F52-8A51-B274AC1E8C87}" srcOrd="0" destOrd="0" presId="urn:microsoft.com/office/officeart/2018/5/layout/IconCircleLabelList"/>
    <dgm:cxn modelId="{AD6CCB15-4776-4D06-9B16-D8E3E459D283}" type="presOf" srcId="{21428939-88CA-4C4E-BCB4-F1E67BAC61DC}" destId="{01F4C3F8-16E8-4517-B886-A3B6142515C5}" srcOrd="0" destOrd="0" presId="urn:microsoft.com/office/officeart/2018/5/layout/IconCircleLabelList"/>
    <dgm:cxn modelId="{50243893-A971-4AD2-A00E-281ED01D8569}" type="presOf" srcId="{8DD59DB4-D341-461F-A876-EA63050FC900}" destId="{5BC5C299-681C-4206-8B95-B60B1D7E90E3}" srcOrd="0" destOrd="0" presId="urn:microsoft.com/office/officeart/2018/5/layout/IconCircleLabelList"/>
    <dgm:cxn modelId="{EB57AFAF-0FFF-4EBB-BDA9-47B3285D76B2}" srcId="{8DD59DB4-D341-461F-A876-EA63050FC900}" destId="{21428939-88CA-4C4E-BCB4-F1E67BAC61DC}" srcOrd="0" destOrd="0" parTransId="{187D94A1-5DF9-43AF-B079-F97B0560EDF8}" sibTransId="{5A0BCF2C-9B59-4C10-AD55-EE55C9B4E409}"/>
    <dgm:cxn modelId="{BF79DEC7-BFE1-45DD-9596-6E96DF24E78E}" srcId="{8DD59DB4-D341-461F-A876-EA63050FC900}" destId="{527D56D7-EC17-4524-83B2-2BAFD1BF699A}" srcOrd="1" destOrd="0" parTransId="{16074708-6184-41E6-8417-CB0F9D7516A9}" sibTransId="{77605C79-4A9E-4C52-9C57-6753A4AD6BBB}"/>
    <dgm:cxn modelId="{89E9E2D8-5CB2-466B-BFB5-E1BFD46A2C24}" type="presOf" srcId="{527D56D7-EC17-4524-83B2-2BAFD1BF699A}" destId="{4907EE45-D236-4952-B104-692DB878EAA8}" srcOrd="0" destOrd="0" presId="urn:microsoft.com/office/officeart/2018/5/layout/IconCircleLabelList"/>
    <dgm:cxn modelId="{6741E4E0-ABEF-4AE9-A675-9421AE47AE15}" srcId="{8DD59DB4-D341-461F-A876-EA63050FC900}" destId="{D58F207A-EEA1-4D39-AC99-D17DD9C3AA3C}" srcOrd="3" destOrd="0" parTransId="{2718C59F-90EC-4EF5-A590-ADF5AA359ABB}" sibTransId="{EDFD4FAE-B788-4FB3-89B5-9D3F14600917}"/>
    <dgm:cxn modelId="{D6C188E2-64D9-4B50-B2C6-0FB420F44432}" srcId="{8DD59DB4-D341-461F-A876-EA63050FC900}" destId="{4CD0FA23-351D-4C94-B9DC-E514307901B0}" srcOrd="2" destOrd="0" parTransId="{7989B275-B17E-4DE6-A5B3-236D24B717A8}" sibTransId="{80A724F1-4767-4854-AD0E-2C28B77693C9}"/>
    <dgm:cxn modelId="{7ABF90E3-B068-42F7-B9CB-8531683C96E5}" type="presOf" srcId="{4CD0FA23-351D-4C94-B9DC-E514307901B0}" destId="{BA05B809-FAB0-4025-986E-736C88D1C8D9}" srcOrd="0" destOrd="0" presId="urn:microsoft.com/office/officeart/2018/5/layout/IconCircleLabelList"/>
    <dgm:cxn modelId="{64A37724-4A50-4115-BD90-44D3555D14A2}" type="presParOf" srcId="{5BC5C299-681C-4206-8B95-B60B1D7E90E3}" destId="{3129CDB7-C9F9-4CF1-B176-F770A11DBD85}" srcOrd="0" destOrd="0" presId="urn:microsoft.com/office/officeart/2018/5/layout/IconCircleLabelList"/>
    <dgm:cxn modelId="{30737887-3B72-44B3-A1E9-AD03CD7063F0}" type="presParOf" srcId="{3129CDB7-C9F9-4CF1-B176-F770A11DBD85}" destId="{1FC4B97D-2093-4887-860B-DFD1F90BE92F}" srcOrd="0" destOrd="0" presId="urn:microsoft.com/office/officeart/2018/5/layout/IconCircleLabelList"/>
    <dgm:cxn modelId="{8970630A-6E15-4FAE-A45B-99DF79AC650A}" type="presParOf" srcId="{3129CDB7-C9F9-4CF1-B176-F770A11DBD85}" destId="{ADB9135A-FF11-4524-B9BC-8A88A2DECD16}" srcOrd="1" destOrd="0" presId="urn:microsoft.com/office/officeart/2018/5/layout/IconCircleLabelList"/>
    <dgm:cxn modelId="{D790BEA2-AA84-49A3-8C17-BC5F995A235C}" type="presParOf" srcId="{3129CDB7-C9F9-4CF1-B176-F770A11DBD85}" destId="{A3D2826B-B55B-4B23-A249-C3EFEEA00F29}" srcOrd="2" destOrd="0" presId="urn:microsoft.com/office/officeart/2018/5/layout/IconCircleLabelList"/>
    <dgm:cxn modelId="{DAB5D8BB-E65B-43D8-91BC-7AA7B9B787D0}" type="presParOf" srcId="{3129CDB7-C9F9-4CF1-B176-F770A11DBD85}" destId="{01F4C3F8-16E8-4517-B886-A3B6142515C5}" srcOrd="3" destOrd="0" presId="urn:microsoft.com/office/officeart/2018/5/layout/IconCircleLabelList"/>
    <dgm:cxn modelId="{4F6B0969-3BD0-425A-ABE3-74783E8FEF08}" type="presParOf" srcId="{5BC5C299-681C-4206-8B95-B60B1D7E90E3}" destId="{AA09EE27-A443-4C69-BB47-7C377724BED5}" srcOrd="1" destOrd="0" presId="urn:microsoft.com/office/officeart/2018/5/layout/IconCircleLabelList"/>
    <dgm:cxn modelId="{C8E17565-183E-4E03-800E-9FCFC1E5CA64}" type="presParOf" srcId="{5BC5C299-681C-4206-8B95-B60B1D7E90E3}" destId="{7F56D126-130C-423C-B075-1C9692B6A01B}" srcOrd="2" destOrd="0" presId="urn:microsoft.com/office/officeart/2018/5/layout/IconCircleLabelList"/>
    <dgm:cxn modelId="{D2141B2E-9169-447F-9F7F-4499E6C99554}" type="presParOf" srcId="{7F56D126-130C-423C-B075-1C9692B6A01B}" destId="{55B70485-8E03-4645-9E27-07C94F2D29AA}" srcOrd="0" destOrd="0" presId="urn:microsoft.com/office/officeart/2018/5/layout/IconCircleLabelList"/>
    <dgm:cxn modelId="{2184E5AF-75A4-497C-A988-A2D7EEA0FE33}" type="presParOf" srcId="{7F56D126-130C-423C-B075-1C9692B6A01B}" destId="{ABF9B0D0-47E8-4DBD-A5FF-86FB9F62673D}" srcOrd="1" destOrd="0" presId="urn:microsoft.com/office/officeart/2018/5/layout/IconCircleLabelList"/>
    <dgm:cxn modelId="{E0F2D4FB-0466-4AC0-9492-772AF2599638}" type="presParOf" srcId="{7F56D126-130C-423C-B075-1C9692B6A01B}" destId="{5F09065E-48B1-4224-AC29-E370925384DA}" srcOrd="2" destOrd="0" presId="urn:microsoft.com/office/officeart/2018/5/layout/IconCircleLabelList"/>
    <dgm:cxn modelId="{7A608752-B0E7-4570-BC7B-4306211F0E25}" type="presParOf" srcId="{7F56D126-130C-423C-B075-1C9692B6A01B}" destId="{4907EE45-D236-4952-B104-692DB878EAA8}" srcOrd="3" destOrd="0" presId="urn:microsoft.com/office/officeart/2018/5/layout/IconCircleLabelList"/>
    <dgm:cxn modelId="{32737E58-663D-4354-888B-82DA15D8A02D}" type="presParOf" srcId="{5BC5C299-681C-4206-8B95-B60B1D7E90E3}" destId="{8CD26A7C-AAF8-4E79-8C18-76568752E45C}" srcOrd="3" destOrd="0" presId="urn:microsoft.com/office/officeart/2018/5/layout/IconCircleLabelList"/>
    <dgm:cxn modelId="{790B50F1-E3AE-4033-B22B-9C5342E74969}" type="presParOf" srcId="{5BC5C299-681C-4206-8B95-B60B1D7E90E3}" destId="{F2B8EDBB-C005-4A85-A4A0-BC4BF1E4DD0E}" srcOrd="4" destOrd="0" presId="urn:microsoft.com/office/officeart/2018/5/layout/IconCircleLabelList"/>
    <dgm:cxn modelId="{0C648A26-6C81-4485-8870-F03CF2600087}" type="presParOf" srcId="{F2B8EDBB-C005-4A85-A4A0-BC4BF1E4DD0E}" destId="{91187046-B1D5-4005-9A8A-DFD2C6E1A2A0}" srcOrd="0" destOrd="0" presId="urn:microsoft.com/office/officeart/2018/5/layout/IconCircleLabelList"/>
    <dgm:cxn modelId="{CD879CA7-728B-45E0-AADA-43D160671CCF}" type="presParOf" srcId="{F2B8EDBB-C005-4A85-A4A0-BC4BF1E4DD0E}" destId="{5BA7E07B-9DAD-4688-9069-B7120F0A62D0}" srcOrd="1" destOrd="0" presId="urn:microsoft.com/office/officeart/2018/5/layout/IconCircleLabelList"/>
    <dgm:cxn modelId="{4289FB60-9D34-40C4-934D-241B4A11BE84}" type="presParOf" srcId="{F2B8EDBB-C005-4A85-A4A0-BC4BF1E4DD0E}" destId="{4ABFD199-9341-4FD6-9F8B-96FC466E43B8}" srcOrd="2" destOrd="0" presId="urn:microsoft.com/office/officeart/2018/5/layout/IconCircleLabelList"/>
    <dgm:cxn modelId="{A6A03784-C613-4311-942E-EE4D50827F15}" type="presParOf" srcId="{F2B8EDBB-C005-4A85-A4A0-BC4BF1E4DD0E}" destId="{BA05B809-FAB0-4025-986E-736C88D1C8D9}" srcOrd="3" destOrd="0" presId="urn:microsoft.com/office/officeart/2018/5/layout/IconCircleLabelList"/>
    <dgm:cxn modelId="{0FEF8C28-236E-43BB-A55E-4B5F7FED0E5E}" type="presParOf" srcId="{5BC5C299-681C-4206-8B95-B60B1D7E90E3}" destId="{4F3088C6-AC8E-466D-B6FB-16D07244557B}" srcOrd="5" destOrd="0" presId="urn:microsoft.com/office/officeart/2018/5/layout/IconCircleLabelList"/>
    <dgm:cxn modelId="{358901F3-CFB7-440C-873A-CD831FFEEA0E}" type="presParOf" srcId="{5BC5C299-681C-4206-8B95-B60B1D7E90E3}" destId="{F530E7A6-4F2E-492C-92A1-758389C60D02}" srcOrd="6" destOrd="0" presId="urn:microsoft.com/office/officeart/2018/5/layout/IconCircleLabelList"/>
    <dgm:cxn modelId="{71262C24-BCD3-4654-923D-4CB2DDB22DC5}" type="presParOf" srcId="{F530E7A6-4F2E-492C-92A1-758389C60D02}" destId="{4951E6A8-F345-4E9E-A897-9C976336A832}" srcOrd="0" destOrd="0" presId="urn:microsoft.com/office/officeart/2018/5/layout/IconCircleLabelList"/>
    <dgm:cxn modelId="{6B80C164-2643-464C-8F63-DE668B168587}" type="presParOf" srcId="{F530E7A6-4F2E-492C-92A1-758389C60D02}" destId="{61942952-6EF2-4670-B00B-CEAD936899C7}" srcOrd="1" destOrd="0" presId="urn:microsoft.com/office/officeart/2018/5/layout/IconCircleLabelList"/>
    <dgm:cxn modelId="{3B96ACDA-7414-4BAA-A88A-E39F6A8CA48A}" type="presParOf" srcId="{F530E7A6-4F2E-492C-92A1-758389C60D02}" destId="{8E363D7A-6EA8-461B-9919-637B2329657D}" srcOrd="2" destOrd="0" presId="urn:microsoft.com/office/officeart/2018/5/layout/IconCircleLabelList"/>
    <dgm:cxn modelId="{5FF9A0FF-2914-47FB-B192-395C286A62F8}" type="presParOf" srcId="{F530E7A6-4F2E-492C-92A1-758389C60D02}" destId="{250C265E-5DD1-4F52-8A51-B274AC1E8C8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6B0ED2-561D-4130-A313-87CE2E40F83B}">
      <dsp:nvSpPr>
        <dsp:cNvPr id="0" name=""/>
        <dsp:cNvSpPr/>
      </dsp:nvSpPr>
      <dsp:spPr>
        <a:xfrm>
          <a:off x="341147" y="616301"/>
          <a:ext cx="557666" cy="5576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CDB957-A309-4FEF-A0D6-ADA912409C8A}">
      <dsp:nvSpPr>
        <dsp:cNvPr id="0" name=""/>
        <dsp:cNvSpPr/>
      </dsp:nvSpPr>
      <dsp:spPr>
        <a:xfrm>
          <a:off x="351" y="1376336"/>
          <a:ext cx="1239257" cy="58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Following steps are used :</a:t>
          </a:r>
        </a:p>
      </dsp:txBody>
      <dsp:txXfrm>
        <a:off x="351" y="1376336"/>
        <a:ext cx="1239257" cy="588647"/>
      </dsp:txXfrm>
    </dsp:sp>
    <dsp:sp modelId="{DF5A3281-59E6-4332-A18B-0C425DFF2526}">
      <dsp:nvSpPr>
        <dsp:cNvPr id="0" name=""/>
        <dsp:cNvSpPr/>
      </dsp:nvSpPr>
      <dsp:spPr>
        <a:xfrm>
          <a:off x="1797275" y="616301"/>
          <a:ext cx="557666" cy="5576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92AF7F-6CD8-4B17-AA68-3FAB0D514847}">
      <dsp:nvSpPr>
        <dsp:cNvPr id="0" name=""/>
        <dsp:cNvSpPr/>
      </dsp:nvSpPr>
      <dsp:spPr>
        <a:xfrm>
          <a:off x="1456479" y="1376336"/>
          <a:ext cx="1239257" cy="58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Step 1: Python is used for data cleaning, focusing on handling null values in categorical variables.</a:t>
          </a:r>
        </a:p>
      </dsp:txBody>
      <dsp:txXfrm>
        <a:off x="1456479" y="1376336"/>
        <a:ext cx="1239257" cy="588647"/>
      </dsp:txXfrm>
    </dsp:sp>
    <dsp:sp modelId="{C3EE59BD-D5BA-47BD-A9C2-C4083D55E0E9}">
      <dsp:nvSpPr>
        <dsp:cNvPr id="0" name=""/>
        <dsp:cNvSpPr/>
      </dsp:nvSpPr>
      <dsp:spPr>
        <a:xfrm>
          <a:off x="4776182" y="518331"/>
          <a:ext cx="557666" cy="5576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9CDF91-54C0-4354-B55A-92FBC6D8AF01}">
      <dsp:nvSpPr>
        <dsp:cNvPr id="0" name=""/>
        <dsp:cNvSpPr/>
      </dsp:nvSpPr>
      <dsp:spPr>
        <a:xfrm>
          <a:off x="2912607" y="1376336"/>
          <a:ext cx="1239257" cy="58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Step 2: Statistical analysis, including visualization, was conducted using Python, Seaborn, and Matplotlib.</a:t>
          </a:r>
        </a:p>
      </dsp:txBody>
      <dsp:txXfrm>
        <a:off x="2912607" y="1376336"/>
        <a:ext cx="1239257" cy="588647"/>
      </dsp:txXfrm>
    </dsp:sp>
    <dsp:sp modelId="{1819A5BD-8104-41C2-9FC4-5579D9C484BD}">
      <dsp:nvSpPr>
        <dsp:cNvPr id="0" name=""/>
        <dsp:cNvSpPr/>
      </dsp:nvSpPr>
      <dsp:spPr>
        <a:xfrm>
          <a:off x="6208191" y="517009"/>
          <a:ext cx="557666" cy="5576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F06984-31F9-4AB1-9A52-70E65543A3E6}">
      <dsp:nvSpPr>
        <dsp:cNvPr id="0" name=""/>
        <dsp:cNvSpPr/>
      </dsp:nvSpPr>
      <dsp:spPr>
        <a:xfrm>
          <a:off x="4368735" y="1376336"/>
          <a:ext cx="1239257" cy="58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Step 3: R was employed to create stacked bar plots and additional visualizations.</a:t>
          </a:r>
        </a:p>
      </dsp:txBody>
      <dsp:txXfrm>
        <a:off x="4368735" y="1376336"/>
        <a:ext cx="1239257" cy="588647"/>
      </dsp:txXfrm>
    </dsp:sp>
    <dsp:sp modelId="{3A2048A6-83A4-485F-BD2D-BBF5CC1C4F6F}">
      <dsp:nvSpPr>
        <dsp:cNvPr id="0" name=""/>
        <dsp:cNvSpPr/>
      </dsp:nvSpPr>
      <dsp:spPr>
        <a:xfrm>
          <a:off x="3198145" y="567316"/>
          <a:ext cx="557666" cy="55766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5CDD9D-CE50-49C6-8BBA-911E3012ECB4}">
      <dsp:nvSpPr>
        <dsp:cNvPr id="0" name=""/>
        <dsp:cNvSpPr/>
      </dsp:nvSpPr>
      <dsp:spPr>
        <a:xfrm>
          <a:off x="5824862" y="1376336"/>
          <a:ext cx="1239257" cy="58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Step 4 :Used Amazon RDS and  MySQL Workbench was utilized for dataset analysis and extraction of insightful information.</a:t>
          </a:r>
        </a:p>
      </dsp:txBody>
      <dsp:txXfrm>
        <a:off x="5824862" y="1376336"/>
        <a:ext cx="1239257" cy="588647"/>
      </dsp:txXfrm>
    </dsp:sp>
    <dsp:sp modelId="{2EC4CBF8-97F7-43D7-8E77-622D5A2DE1D2}">
      <dsp:nvSpPr>
        <dsp:cNvPr id="0" name=""/>
        <dsp:cNvSpPr/>
      </dsp:nvSpPr>
      <dsp:spPr>
        <a:xfrm>
          <a:off x="7621786" y="616301"/>
          <a:ext cx="557666" cy="55766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13313C-DCD7-4B50-8C06-E0B52F365C90}">
      <dsp:nvSpPr>
        <dsp:cNvPr id="0" name=""/>
        <dsp:cNvSpPr/>
      </dsp:nvSpPr>
      <dsp:spPr>
        <a:xfrm>
          <a:off x="7280990" y="1376336"/>
          <a:ext cx="1239257" cy="58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Step 5 : Amazon AWS S3  was leveraged for storage and management of the dataset.</a:t>
          </a:r>
        </a:p>
      </dsp:txBody>
      <dsp:txXfrm>
        <a:off x="7280990" y="1376336"/>
        <a:ext cx="1239257" cy="5886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C4B97D-2093-4887-860B-DFD1F90BE92F}">
      <dsp:nvSpPr>
        <dsp:cNvPr id="0" name=""/>
        <dsp:cNvSpPr/>
      </dsp:nvSpPr>
      <dsp:spPr>
        <a:xfrm>
          <a:off x="538800" y="312450"/>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B9135A-FF11-4524-B9BC-8A88A2DECD16}">
      <dsp:nvSpPr>
        <dsp:cNvPr id="0" name=""/>
        <dsp:cNvSpPr/>
      </dsp:nvSpPr>
      <dsp:spPr>
        <a:xfrm>
          <a:off x="772800" y="546450"/>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F4C3F8-16E8-4517-B886-A3B6142515C5}">
      <dsp:nvSpPr>
        <dsp:cNvPr id="0" name=""/>
        <dsp:cNvSpPr/>
      </dsp:nvSpPr>
      <dsp:spPr>
        <a:xfrm>
          <a:off x="187800" y="1752450"/>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Recognizing the significance of data cleaning in ensuring accurate visualizations and meaningful data interpretation. </a:t>
          </a:r>
        </a:p>
      </dsp:txBody>
      <dsp:txXfrm>
        <a:off x="187800" y="1752450"/>
        <a:ext cx="1800000" cy="1035000"/>
      </dsp:txXfrm>
    </dsp:sp>
    <dsp:sp modelId="{55B70485-8E03-4645-9E27-07C94F2D29AA}">
      <dsp:nvSpPr>
        <dsp:cNvPr id="0" name=""/>
        <dsp:cNvSpPr/>
      </dsp:nvSpPr>
      <dsp:spPr>
        <a:xfrm>
          <a:off x="2653800" y="312450"/>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9B0D0-47E8-4DBD-A5FF-86FB9F62673D}">
      <dsp:nvSpPr>
        <dsp:cNvPr id="0" name=""/>
        <dsp:cNvSpPr/>
      </dsp:nvSpPr>
      <dsp:spPr>
        <a:xfrm>
          <a:off x="2887800" y="546450"/>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07EE45-D236-4952-B104-692DB878EAA8}">
      <dsp:nvSpPr>
        <dsp:cNvPr id="0" name=""/>
        <dsp:cNvSpPr/>
      </dsp:nvSpPr>
      <dsp:spPr>
        <a:xfrm>
          <a:off x="2302800" y="1752450"/>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Key Steps in Initiating a Research Project from the Ground Up. </a:t>
          </a:r>
        </a:p>
      </dsp:txBody>
      <dsp:txXfrm>
        <a:off x="2302800" y="1752450"/>
        <a:ext cx="1800000" cy="1035000"/>
      </dsp:txXfrm>
    </dsp:sp>
    <dsp:sp modelId="{91187046-B1D5-4005-9A8A-DFD2C6E1A2A0}">
      <dsp:nvSpPr>
        <dsp:cNvPr id="0" name=""/>
        <dsp:cNvSpPr/>
      </dsp:nvSpPr>
      <dsp:spPr>
        <a:xfrm>
          <a:off x="4768800" y="312450"/>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A7E07B-9DAD-4688-9069-B7120F0A62D0}">
      <dsp:nvSpPr>
        <dsp:cNvPr id="0" name=""/>
        <dsp:cNvSpPr/>
      </dsp:nvSpPr>
      <dsp:spPr>
        <a:xfrm>
          <a:off x="5002800" y="546450"/>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05B809-FAB0-4025-986E-736C88D1C8D9}">
      <dsp:nvSpPr>
        <dsp:cNvPr id="0" name=""/>
        <dsp:cNvSpPr/>
      </dsp:nvSpPr>
      <dsp:spPr>
        <a:xfrm>
          <a:off x="4417800" y="1752450"/>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Utilizing Data Visualization and Statistical Analysis for Extracting Insights. </a:t>
          </a:r>
        </a:p>
      </dsp:txBody>
      <dsp:txXfrm>
        <a:off x="4417800" y="1752450"/>
        <a:ext cx="1800000" cy="1035000"/>
      </dsp:txXfrm>
    </dsp:sp>
    <dsp:sp modelId="{4951E6A8-F345-4E9E-A897-9C976336A832}">
      <dsp:nvSpPr>
        <dsp:cNvPr id="0" name=""/>
        <dsp:cNvSpPr/>
      </dsp:nvSpPr>
      <dsp:spPr>
        <a:xfrm>
          <a:off x="6883800" y="312450"/>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942952-6EF2-4670-B00B-CEAD936899C7}">
      <dsp:nvSpPr>
        <dsp:cNvPr id="0" name=""/>
        <dsp:cNvSpPr/>
      </dsp:nvSpPr>
      <dsp:spPr>
        <a:xfrm>
          <a:off x="7117800" y="546450"/>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0C265E-5DD1-4F52-8A51-B274AC1E8C87}">
      <dsp:nvSpPr>
        <dsp:cNvPr id="0" name=""/>
        <dsp:cNvSpPr/>
      </dsp:nvSpPr>
      <dsp:spPr>
        <a:xfrm>
          <a:off x="6532800" y="1752450"/>
          <a:ext cx="180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Interpreting Visualizations to Formulate Conclusions and Insights.</a:t>
          </a:r>
        </a:p>
      </dsp:txBody>
      <dsp:txXfrm>
        <a:off x="6532800" y="1752450"/>
        <a:ext cx="1800000" cy="103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d03716c868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d03716c868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d03716c868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d03716c868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d03716c86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d03716c86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d03716c868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d03716c868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d03716c868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d03716c868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4/28/2024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01715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4/28/2024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893308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4/28/2024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922648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4/28/2024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376765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4/28/2024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6060534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4/28/2024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72848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4/28/2024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53295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32ABBEA6-7C60-4B02-AE87-00D78D8422AF}" type="datetimeFigureOut">
              <a:rPr lang="en-US" dirty="0"/>
              <a:t>4/28/2024</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3383399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4/28/2024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1588571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4/28/2024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1928346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4/28/2024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9077706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1" name="Google Shape;21;p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724058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4/28/2024</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9738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prstGeom prst="rect">
            <a:avLst/>
          </a:prstGeom>
        </p:spPr>
        <p:txBody>
          <a:bodyPr spcFirstLastPara="1" wrap="square" lIns="91425" tIns="91425" rIns="91425" bIns="91425" anchor="b" anchorCtr="0">
            <a:noAutofit/>
          </a:bodyPr>
          <a:lstStyle/>
          <a:p>
            <a:pPr algn="ctr">
              <a:spcBef>
                <a:spcPts val="0"/>
              </a:spcBef>
            </a:pPr>
            <a:r>
              <a:rPr lang="en" sz="3800" dirty="0">
                <a:latin typeface="Times New Roman"/>
                <a:ea typeface="Times New Roman"/>
                <a:cs typeface="Times New Roman"/>
                <a:sym typeface="Times New Roman"/>
              </a:rPr>
              <a:t>AIT 580(009) </a:t>
            </a:r>
            <a:br>
              <a:rPr lang="en" sz="3800" dirty="0">
                <a:latin typeface="Times New Roman"/>
                <a:ea typeface="Times New Roman"/>
                <a:cs typeface="Times New Roman"/>
                <a:sym typeface="Times New Roman"/>
              </a:rPr>
            </a:br>
            <a:r>
              <a:rPr lang="en-US" sz="3200" b="1" spc="-20" dirty="0">
                <a:effectLst/>
                <a:latin typeface="Times New Roman" panose="02020603050405020304" pitchFamily="18" charset="0"/>
                <a:ea typeface="Times New Roman" panose="02020603050405020304" pitchFamily="18" charset="0"/>
              </a:rPr>
              <a:t>Weather Forecasting and Beyond: The Role of Integrated Surface Dataset in  Modern Meteorology</a:t>
            </a:r>
            <a:br>
              <a:rPr lang="en-US" sz="1800" b="1" dirty="0">
                <a:effectLst/>
                <a:latin typeface="Times New Roman" panose="02020603050405020304" pitchFamily="18" charset="0"/>
                <a:ea typeface="Times New Roman" panose="02020603050405020304" pitchFamily="18" charset="0"/>
              </a:rPr>
            </a:br>
            <a:endParaRPr sz="3800" dirty="0">
              <a:latin typeface="Times New Roman"/>
              <a:ea typeface="Times New Roman"/>
              <a:cs typeface="Times New Roman"/>
              <a:sym typeface="Times New Roman"/>
            </a:endParaRPr>
          </a:p>
        </p:txBody>
      </p:sp>
      <p:sp>
        <p:nvSpPr>
          <p:cNvPr id="63" name="Google Shape;63;p13"/>
          <p:cNvSpPr txBox="1">
            <a:spLocks noGrp="1"/>
          </p:cNvSpPr>
          <p:nvPr>
            <p:ph type="subTitle" idx="1"/>
          </p:nvPr>
        </p:nvSpPr>
        <p:spPr>
          <a:xfrm>
            <a:off x="861600" y="3154150"/>
            <a:ext cx="8282400" cy="1260600"/>
          </a:xfrm>
          <a:prstGeom prst="rect">
            <a:avLst/>
          </a:prstGeom>
        </p:spPr>
        <p:txBody>
          <a:bodyPr spcFirstLastPara="1" wrap="square" lIns="91425" tIns="91425" rIns="91425" bIns="91425" anchor="ctr" anchorCtr="0">
            <a:normAutofit/>
          </a:bodyPr>
          <a:lstStyle/>
          <a:p>
            <a:pPr marL="0" lvl="0" indent="0" algn="r" rtl="0">
              <a:lnSpc>
                <a:spcPct val="90000"/>
              </a:lnSpc>
              <a:spcBef>
                <a:spcPts val="0"/>
              </a:spcBef>
              <a:spcAft>
                <a:spcPts val="0"/>
              </a:spcAft>
              <a:buNone/>
            </a:pPr>
            <a:r>
              <a:rPr lang="en" sz="1700">
                <a:latin typeface="Times New Roman"/>
                <a:ea typeface="Times New Roman"/>
                <a:cs typeface="Times New Roman"/>
                <a:sym typeface="Times New Roman"/>
              </a:rPr>
              <a:t>MANASA RAJAGOPAL MADABUSHI |  G01476994 </a:t>
            </a:r>
            <a:endParaRPr sz="17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dirty="0">
                <a:latin typeface="Times New Roman"/>
                <a:ea typeface="Times New Roman"/>
                <a:cs typeface="Times New Roman"/>
                <a:sym typeface="Times New Roman"/>
              </a:rPr>
              <a:t>DATASET DESCRIPTION</a:t>
            </a:r>
            <a:endParaRPr b="1" dirty="0">
              <a:latin typeface="Times New Roman"/>
              <a:ea typeface="Times New Roman"/>
              <a:cs typeface="Times New Roman"/>
              <a:sym typeface="Times New Roman"/>
            </a:endParaRPr>
          </a:p>
        </p:txBody>
      </p:sp>
      <p:sp>
        <p:nvSpPr>
          <p:cNvPr id="69" name="Google Shape;69;p1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17500" algn="l" rtl="0">
              <a:lnSpc>
                <a:spcPct val="95000"/>
              </a:lnSpc>
              <a:spcBef>
                <a:spcPts val="0"/>
              </a:spcBef>
              <a:spcAft>
                <a:spcPts val="0"/>
              </a:spcAft>
              <a:buSzPts val="1400"/>
              <a:buFont typeface="Times New Roman"/>
              <a:buChar char="➢"/>
            </a:pPr>
            <a:r>
              <a:rPr lang="en" sz="1400" dirty="0">
                <a:latin typeface="Times New Roman"/>
                <a:ea typeface="Times New Roman"/>
                <a:cs typeface="Times New Roman"/>
                <a:sym typeface="Times New Roman"/>
              </a:rPr>
              <a:t>The Integrated Surface Dataset (ISD) is a collection of weather information from all over the world. I have chosen this dataset as it provides a comprehensive overview of global weather patterns, which is vital for studying climate change and its impact. </a:t>
            </a:r>
            <a:endParaRPr sz="1400" dirty="0">
              <a:latin typeface="Times New Roman"/>
              <a:ea typeface="Times New Roman"/>
              <a:cs typeface="Times New Roman"/>
              <a:sym typeface="Times New Roman"/>
            </a:endParaRPr>
          </a:p>
          <a:p>
            <a:pPr marL="457200" lvl="0" indent="-317500" algn="l" rtl="0">
              <a:lnSpc>
                <a:spcPct val="95000"/>
              </a:lnSpc>
              <a:spcBef>
                <a:spcPts val="1200"/>
              </a:spcBef>
              <a:spcAft>
                <a:spcPts val="0"/>
              </a:spcAft>
              <a:buSzPts val="1400"/>
              <a:buFont typeface="Times New Roman"/>
              <a:buChar char="➢"/>
            </a:pPr>
            <a:r>
              <a:rPr lang="en" sz="1400" dirty="0">
                <a:latin typeface="Times New Roman"/>
                <a:ea typeface="Times New Roman"/>
                <a:cs typeface="Times New Roman"/>
                <a:sym typeface="Times New Roman"/>
              </a:rPr>
              <a:t>The dataset contains 78 attributes including station ID, date/time (UTC), latitude, longitude, elevation, and various weather parameters such as wind speed, temperature, precipitation, and wave characteristics.</a:t>
            </a:r>
            <a:endParaRPr sz="1400" dirty="0">
              <a:latin typeface="Times New Roman"/>
              <a:ea typeface="Times New Roman"/>
              <a:cs typeface="Times New Roman"/>
              <a:sym typeface="Times New Roman"/>
            </a:endParaRPr>
          </a:p>
          <a:p>
            <a:pPr marL="457200" lvl="0" indent="0" algn="l" rtl="0">
              <a:lnSpc>
                <a:spcPct val="95000"/>
              </a:lnSpc>
              <a:spcBef>
                <a:spcPts val="1200"/>
              </a:spcBef>
              <a:spcAft>
                <a:spcPts val="0"/>
              </a:spcAft>
              <a:buSzPts val="275"/>
              <a:buNone/>
            </a:pPr>
            <a:endParaRPr sz="1400" dirty="0">
              <a:latin typeface="Times New Roman"/>
              <a:ea typeface="Times New Roman"/>
              <a:cs typeface="Times New Roman"/>
              <a:sym typeface="Times New Roman"/>
            </a:endParaRPr>
          </a:p>
          <a:p>
            <a:pPr marL="457200" lvl="0" indent="-317500" algn="l" rtl="0">
              <a:lnSpc>
                <a:spcPct val="95000"/>
              </a:lnSpc>
              <a:spcBef>
                <a:spcPts val="1200"/>
              </a:spcBef>
              <a:spcAft>
                <a:spcPts val="0"/>
              </a:spcAft>
              <a:buSzPts val="1400"/>
              <a:buFont typeface="Times New Roman"/>
              <a:buChar char="➢"/>
            </a:pPr>
            <a:r>
              <a:rPr lang="en" sz="1400" dirty="0">
                <a:latin typeface="Times New Roman"/>
                <a:ea typeface="Times New Roman"/>
                <a:cs typeface="Times New Roman"/>
                <a:sym typeface="Times New Roman"/>
              </a:rPr>
              <a:t>There are 1,583 data points in this subset, which represent individual records of hourly weather observations.</a:t>
            </a:r>
            <a:endParaRPr sz="1400" dirty="0">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endParaRPr sz="1400" dirty="0">
              <a:solidFill>
                <a:srgbClr val="ECECEC"/>
              </a:solidFill>
              <a:highlight>
                <a:srgbClr val="212121"/>
              </a:highlight>
              <a:latin typeface="Roboto"/>
              <a:ea typeface="Roboto"/>
              <a:cs typeface="Roboto"/>
              <a:sym typeface="Roboto"/>
            </a:endParaRPr>
          </a:p>
          <a:p>
            <a:pPr marL="0" lvl="0" indent="0" algn="l" rtl="0">
              <a:lnSpc>
                <a:spcPct val="95000"/>
              </a:lnSpc>
              <a:spcBef>
                <a:spcPts val="1200"/>
              </a:spcBef>
              <a:spcAft>
                <a:spcPts val="0"/>
              </a:spcAft>
              <a:buSzPts val="275"/>
              <a:buNone/>
            </a:pPr>
            <a:endParaRPr sz="1400" dirty="0">
              <a:solidFill>
                <a:srgbClr val="ECECEC"/>
              </a:solidFill>
              <a:highlight>
                <a:srgbClr val="212121"/>
              </a:highlight>
              <a:latin typeface="Roboto"/>
              <a:ea typeface="Roboto"/>
              <a:cs typeface="Roboto"/>
              <a:sym typeface="Roboto"/>
            </a:endParaRPr>
          </a:p>
          <a:p>
            <a:pPr marL="0" lvl="0" indent="0" algn="l" rtl="0">
              <a:lnSpc>
                <a:spcPct val="95000"/>
              </a:lnSpc>
              <a:spcBef>
                <a:spcPts val="1200"/>
              </a:spcBef>
              <a:spcAft>
                <a:spcPts val="1200"/>
              </a:spcAft>
              <a:buSzPts val="275"/>
              <a:buNone/>
            </a:pPr>
            <a:endParaRPr sz="300" dirty="0">
              <a:solidFill>
                <a:srgbClr val="ECECEC"/>
              </a:solidFill>
              <a:highlight>
                <a:srgbClr val="212121"/>
              </a:highlight>
              <a:latin typeface="Roboto"/>
              <a:ea typeface="Roboto"/>
              <a:cs typeface="Roboto"/>
              <a:sym typeface="Roboto"/>
            </a:endParaRPr>
          </a:p>
        </p:txBody>
      </p:sp>
      <p:sp>
        <p:nvSpPr>
          <p:cNvPr id="70" name="Google Shape;70;p14"/>
          <p:cNvSpPr txBox="1">
            <a:spLocks noGrp="1"/>
          </p:cNvSpPr>
          <p:nvPr>
            <p:ph type="sldNum" idx="12"/>
          </p:nvPr>
        </p:nvSpPr>
        <p:spPr>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dirty="0">
                <a:latin typeface="Times New Roman"/>
                <a:ea typeface="Times New Roman"/>
                <a:cs typeface="Times New Roman"/>
                <a:sym typeface="Times New Roman"/>
              </a:rPr>
              <a:t>RESEARCH QUESTIONS</a:t>
            </a:r>
            <a:endParaRPr b="1" dirty="0">
              <a:latin typeface="Times New Roman"/>
              <a:ea typeface="Times New Roman"/>
              <a:cs typeface="Times New Roman"/>
              <a:sym typeface="Times New Roman"/>
            </a:endParaRPr>
          </a:p>
        </p:txBody>
      </p:sp>
      <p:sp>
        <p:nvSpPr>
          <p:cNvPr id="76" name="Google Shape;76;p15"/>
          <p:cNvSpPr txBox="1">
            <a:spLocks noGrp="1"/>
          </p:cNvSpPr>
          <p:nvPr>
            <p:ph type="body" idx="1"/>
          </p:nvPr>
        </p:nvSpPr>
        <p:spPr>
          <a:xfrm>
            <a:off x="311700" y="1381649"/>
            <a:ext cx="8520600" cy="3281567"/>
          </a:xfrm>
          <a:prstGeom prst="rect">
            <a:avLst/>
          </a:prstGeom>
        </p:spPr>
        <p:txBody>
          <a:bodyPr spcFirstLastPara="1" wrap="square" lIns="91425" tIns="91425" rIns="91425" bIns="91425" anchor="t" anchorCtr="0">
            <a:noAutofit/>
          </a:bodyPr>
          <a:lstStyle/>
          <a:p>
            <a:pPr marL="0" lvl="0" indent="0" algn="just" rtl="0">
              <a:lnSpc>
                <a:spcPct val="95000"/>
              </a:lnSpc>
              <a:spcBef>
                <a:spcPts val="0"/>
              </a:spcBef>
              <a:spcAft>
                <a:spcPts val="0"/>
              </a:spcAft>
              <a:buNone/>
            </a:pPr>
            <a:r>
              <a:rPr lang="en" sz="1500" dirty="0">
                <a:latin typeface="Times New Roman"/>
                <a:ea typeface="Times New Roman"/>
                <a:cs typeface="Times New Roman"/>
                <a:sym typeface="Times New Roman"/>
              </a:rPr>
              <a:t>This study focuses on analyzing historical weather data from the Integrated Surface Dataset (ISD) to understand trends and patterns in global climate changes and their environmental impacts. In this research, </a:t>
            </a:r>
            <a:r>
              <a:rPr lang="en" dirty="0">
                <a:latin typeface="Times New Roman"/>
                <a:ea typeface="Times New Roman"/>
                <a:cs typeface="Times New Roman"/>
                <a:sym typeface="Times New Roman"/>
              </a:rPr>
              <a:t>I</a:t>
            </a:r>
            <a:r>
              <a:rPr lang="en" sz="1500" dirty="0">
                <a:latin typeface="Times New Roman"/>
                <a:ea typeface="Times New Roman"/>
                <a:cs typeface="Times New Roman"/>
                <a:sym typeface="Times New Roman"/>
              </a:rPr>
              <a:t> investigated the spatial and temporal patterns in weather data to understand how conditions, elevation, and reporting vary across different global regions. This study will examine the following research inquiries.</a:t>
            </a:r>
            <a:endParaRPr sz="1500" dirty="0">
              <a:latin typeface="Times New Roman"/>
              <a:ea typeface="Times New Roman"/>
              <a:cs typeface="Times New Roman"/>
              <a:sym typeface="Times New Roman"/>
            </a:endParaRPr>
          </a:p>
          <a:p>
            <a:pPr marL="0" lvl="0" indent="0" algn="just" rtl="0">
              <a:lnSpc>
                <a:spcPct val="95000"/>
              </a:lnSpc>
              <a:spcBef>
                <a:spcPts val="1200"/>
              </a:spcBef>
              <a:spcAft>
                <a:spcPts val="0"/>
              </a:spcAft>
              <a:buNone/>
            </a:pPr>
            <a:endParaRPr dirty="0">
              <a:latin typeface="Times New Roman"/>
              <a:ea typeface="Times New Roman"/>
              <a:cs typeface="Times New Roman"/>
              <a:sym typeface="Times New Roman"/>
            </a:endParaRPr>
          </a:p>
          <a:p>
            <a:pPr marL="457200" lvl="0" indent="-323850" algn="just" rtl="0">
              <a:lnSpc>
                <a:spcPct val="95000"/>
              </a:lnSpc>
              <a:spcBef>
                <a:spcPts val="0"/>
              </a:spcBef>
              <a:spcAft>
                <a:spcPts val="0"/>
              </a:spcAft>
              <a:buSzPts val="1500"/>
              <a:buFont typeface="Times New Roman"/>
              <a:buAutoNum type="arabicPeriod"/>
            </a:pPr>
            <a:r>
              <a:rPr lang="en-US" dirty="0">
                <a:effectLst/>
                <a:latin typeface="Times New Roman" panose="02020603050405020304" pitchFamily="18" charset="0"/>
                <a:ea typeface="Times New Roman" panose="02020603050405020304" pitchFamily="18" charset="0"/>
              </a:rPr>
              <a:t>How do specific report kinds connect to the geographic distribution habits of weather stations?</a:t>
            </a:r>
          </a:p>
          <a:p>
            <a:pPr indent="-323850" algn="just">
              <a:lnSpc>
                <a:spcPct val="95000"/>
              </a:lnSpc>
              <a:buSzPts val="1500"/>
              <a:buFont typeface="Times New Roman"/>
              <a:buAutoNum type="arabicPeriod"/>
            </a:pPr>
            <a:r>
              <a:rPr lang="en-US" dirty="0">
                <a:effectLst/>
                <a:latin typeface="Times New Roman" panose="02020603050405020304" pitchFamily="18" charset="0"/>
                <a:ea typeface="Times New Roman" panose="02020603050405020304" pitchFamily="18" charset="0"/>
              </a:rPr>
              <a:t>What effects do weather report providers have on the variety and regularity of report kinds within the dataset?</a:t>
            </a:r>
          </a:p>
          <a:p>
            <a:pPr indent="-323850" algn="just">
              <a:lnSpc>
                <a:spcPct val="95000"/>
              </a:lnSpc>
              <a:buSzPts val="1500"/>
              <a:buFont typeface="Times New Roman"/>
              <a:buAutoNum type="arabicPeriod"/>
            </a:pPr>
            <a:r>
              <a:rPr lang="en-US" dirty="0">
                <a:effectLst/>
                <a:latin typeface="Times New Roman" panose="02020603050405020304" pitchFamily="18" charset="0"/>
                <a:ea typeface="Times New Roman" panose="02020603050405020304" pitchFamily="18" charset="0"/>
              </a:rPr>
              <a:t>What are the differences in elevation between the various categories of weather reports in the Integrated Surface Dataset?</a:t>
            </a:r>
          </a:p>
          <a:p>
            <a:pPr marL="133350" indent="0" algn="just">
              <a:lnSpc>
                <a:spcPct val="95000"/>
              </a:lnSpc>
              <a:buSzPts val="1500"/>
              <a:buNone/>
            </a:pPr>
            <a:endParaRPr lang="en-US" sz="1800" dirty="0">
              <a:highlight>
                <a:schemeClr val="lt1"/>
              </a:highlight>
              <a:latin typeface="Times New Roman"/>
              <a:ea typeface="Times New Roman"/>
              <a:cs typeface="Times New Roman"/>
              <a:sym typeface="Times New Roman"/>
            </a:endParaRPr>
          </a:p>
          <a:p>
            <a:pPr marL="457200" lvl="0" indent="-323850" algn="just" rtl="0">
              <a:lnSpc>
                <a:spcPct val="95000"/>
              </a:lnSpc>
              <a:spcBef>
                <a:spcPts val="0"/>
              </a:spcBef>
              <a:spcAft>
                <a:spcPts val="0"/>
              </a:spcAft>
              <a:buSzPts val="1500"/>
              <a:buFont typeface="Times New Roman"/>
              <a:buAutoNum type="arabicPeriod"/>
            </a:pPr>
            <a:endParaRPr lang="en-US" sz="1800" dirty="0">
              <a:effectLst/>
              <a:latin typeface="Times New Roman" panose="02020603050405020304" pitchFamily="18" charset="0"/>
              <a:ea typeface="Times New Roman" panose="02020603050405020304" pitchFamily="18" charset="0"/>
            </a:endParaRPr>
          </a:p>
          <a:p>
            <a:pPr marL="457200" lvl="0" indent="-323850" algn="just" rtl="0">
              <a:lnSpc>
                <a:spcPct val="95000"/>
              </a:lnSpc>
              <a:spcBef>
                <a:spcPts val="0"/>
              </a:spcBef>
              <a:spcAft>
                <a:spcPts val="0"/>
              </a:spcAft>
              <a:buSzPts val="1500"/>
              <a:buFont typeface="Times New Roman"/>
              <a:buAutoNum type="arabicPeriod"/>
            </a:pPr>
            <a:endParaRPr lang="en-US" sz="1800" dirty="0">
              <a:effectLst/>
              <a:latin typeface="Times New Roman" panose="02020603050405020304" pitchFamily="18" charset="0"/>
              <a:ea typeface="Times New Roman" panose="02020603050405020304" pitchFamily="18" charset="0"/>
            </a:endParaRPr>
          </a:p>
          <a:p>
            <a:pPr marL="457200" lvl="0" indent="-323850" algn="just" rtl="0">
              <a:lnSpc>
                <a:spcPct val="95000"/>
              </a:lnSpc>
              <a:spcBef>
                <a:spcPts val="0"/>
              </a:spcBef>
              <a:spcAft>
                <a:spcPts val="0"/>
              </a:spcAft>
              <a:buSzPts val="1500"/>
              <a:buFont typeface="Times New Roman"/>
              <a:buAutoNum type="arabicPeriod"/>
            </a:pPr>
            <a:endParaRPr lang="en-US" sz="1800" dirty="0">
              <a:effectLst/>
              <a:latin typeface="Times New Roman" panose="02020603050405020304" pitchFamily="18" charset="0"/>
              <a:ea typeface="Times New Roman" panose="02020603050405020304" pitchFamily="18" charset="0"/>
            </a:endParaRPr>
          </a:p>
          <a:p>
            <a:pPr marL="133350" lvl="0" indent="0" algn="just" rtl="0">
              <a:lnSpc>
                <a:spcPct val="95000"/>
              </a:lnSpc>
              <a:spcBef>
                <a:spcPts val="0"/>
              </a:spcBef>
              <a:spcAft>
                <a:spcPts val="0"/>
              </a:spcAft>
              <a:buSzPts val="1500"/>
              <a:buNone/>
            </a:pPr>
            <a:endParaRPr lang="en" sz="1500" dirty="0">
              <a:highlight>
                <a:schemeClr val="lt1"/>
              </a:highlight>
              <a:latin typeface="Times New Roman"/>
              <a:ea typeface="Times New Roman"/>
              <a:cs typeface="Times New Roman"/>
              <a:sym typeface="Times New Roman"/>
            </a:endParaRPr>
          </a:p>
          <a:p>
            <a:pPr marL="457200" lvl="0" indent="-323850" algn="just" rtl="0">
              <a:lnSpc>
                <a:spcPct val="95000"/>
              </a:lnSpc>
              <a:spcBef>
                <a:spcPts val="0"/>
              </a:spcBef>
              <a:spcAft>
                <a:spcPts val="0"/>
              </a:spcAft>
              <a:buSzPts val="1500"/>
              <a:buFont typeface="Times New Roman"/>
              <a:buAutoNum type="arabicPeriod"/>
            </a:pPr>
            <a:endParaRPr sz="1500" dirty="0">
              <a:highlight>
                <a:schemeClr val="lt1"/>
              </a:highlight>
              <a:latin typeface="Times New Roman"/>
              <a:ea typeface="Times New Roman"/>
              <a:cs typeface="Times New Roman"/>
              <a:sym typeface="Times New Roman"/>
            </a:endParaRPr>
          </a:p>
        </p:txBody>
      </p:sp>
      <p:sp>
        <p:nvSpPr>
          <p:cNvPr id="77" name="Google Shape;77;p15"/>
          <p:cNvSpPr txBox="1">
            <a:spLocks noGrp="1"/>
          </p:cNvSpPr>
          <p:nvPr>
            <p:ph type="sldNum" idx="12"/>
          </p:nvPr>
        </p:nvSpPr>
        <p:spPr>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dirty="0">
                <a:latin typeface="Times New Roman"/>
                <a:ea typeface="Times New Roman"/>
                <a:cs typeface="Times New Roman"/>
                <a:sym typeface="Times New Roman"/>
              </a:rPr>
              <a:t>METHODOLOGIES AND TOOLS</a:t>
            </a:r>
            <a:endParaRPr b="1" dirty="0">
              <a:latin typeface="Times New Roman"/>
              <a:ea typeface="Times New Roman"/>
              <a:cs typeface="Times New Roman"/>
              <a:sym typeface="Times New Roman"/>
            </a:endParaRPr>
          </a:p>
        </p:txBody>
      </p:sp>
      <p:sp>
        <p:nvSpPr>
          <p:cNvPr id="92" name="Google Shape;92;p16"/>
          <p:cNvSpPr txBox="1">
            <a:spLocks noGrp="1"/>
          </p:cNvSpPr>
          <p:nvPr>
            <p:ph type="sldNum" idx="12"/>
          </p:nvPr>
        </p:nvSpPr>
        <p:spPr>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
        <p:nvSpPr>
          <p:cNvPr id="84" name="Google Shape;84;p16"/>
          <p:cNvSpPr/>
          <p:nvPr/>
        </p:nvSpPr>
        <p:spPr>
          <a:xfrm>
            <a:off x="240804" y="3635550"/>
            <a:ext cx="1795800" cy="1440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Times New Roman"/>
                <a:ea typeface="Times New Roman"/>
                <a:cs typeface="Times New Roman"/>
                <a:sym typeface="Times New Roman"/>
              </a:rPr>
              <a:t>DATA CLEANING</a:t>
            </a:r>
            <a:br>
              <a:rPr lang="en" sz="1200" dirty="0">
                <a:latin typeface="Times New Roman"/>
                <a:ea typeface="Times New Roman"/>
                <a:cs typeface="Times New Roman"/>
                <a:sym typeface="Times New Roman"/>
              </a:rPr>
            </a:br>
            <a:r>
              <a:rPr lang="en" sz="1200" dirty="0">
                <a:latin typeface="Times New Roman"/>
                <a:ea typeface="Times New Roman"/>
                <a:cs typeface="Times New Roman"/>
                <a:sym typeface="Times New Roman"/>
              </a:rPr>
              <a:t>PYTHON</a:t>
            </a:r>
            <a:endParaRPr sz="1200" dirty="0">
              <a:latin typeface="Times New Roman"/>
              <a:ea typeface="Times New Roman"/>
              <a:cs typeface="Times New Roman"/>
              <a:sym typeface="Times New Roman"/>
            </a:endParaRPr>
          </a:p>
        </p:txBody>
      </p:sp>
      <p:sp>
        <p:nvSpPr>
          <p:cNvPr id="85" name="Google Shape;85;p16"/>
          <p:cNvSpPr/>
          <p:nvPr/>
        </p:nvSpPr>
        <p:spPr>
          <a:xfrm>
            <a:off x="2314950" y="3635550"/>
            <a:ext cx="2214300" cy="1440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Times New Roman"/>
                <a:ea typeface="Times New Roman"/>
                <a:cs typeface="Times New Roman"/>
                <a:sym typeface="Times New Roman"/>
              </a:rPr>
              <a:t>VISUALIZATION AND</a:t>
            </a:r>
            <a:endParaRPr sz="1200" dirty="0">
              <a:latin typeface="Times New Roman"/>
              <a:ea typeface="Times New Roman"/>
              <a:cs typeface="Times New Roman"/>
              <a:sym typeface="Times New Roman"/>
            </a:endParaRPr>
          </a:p>
          <a:p>
            <a:pPr marL="0" lvl="0" indent="0" algn="ctr" rtl="0">
              <a:spcBef>
                <a:spcPts val="0"/>
              </a:spcBef>
              <a:spcAft>
                <a:spcPts val="0"/>
              </a:spcAft>
              <a:buNone/>
            </a:pPr>
            <a:r>
              <a:rPr lang="en" sz="1200" dirty="0">
                <a:latin typeface="Times New Roman"/>
                <a:ea typeface="Times New Roman"/>
                <a:cs typeface="Times New Roman"/>
                <a:sym typeface="Times New Roman"/>
              </a:rPr>
              <a:t>INTERPRETATION </a:t>
            </a:r>
            <a:br>
              <a:rPr lang="en" sz="1200" dirty="0">
                <a:latin typeface="Times New Roman"/>
                <a:ea typeface="Times New Roman"/>
                <a:cs typeface="Times New Roman"/>
                <a:sym typeface="Times New Roman"/>
              </a:rPr>
            </a:br>
            <a:r>
              <a:rPr lang="en" sz="1200" dirty="0">
                <a:latin typeface="Times New Roman"/>
                <a:ea typeface="Times New Roman"/>
                <a:cs typeface="Times New Roman"/>
                <a:sym typeface="Times New Roman"/>
              </a:rPr>
              <a:t>IN R AND PYTHON</a:t>
            </a:r>
            <a:br>
              <a:rPr lang="en" dirty="0">
                <a:latin typeface="Source Code Pro"/>
                <a:ea typeface="Source Code Pro"/>
                <a:cs typeface="Source Code Pro"/>
                <a:sym typeface="Source Code Pro"/>
              </a:rPr>
            </a:br>
            <a:endParaRPr dirty="0">
              <a:latin typeface="Source Code Pro"/>
              <a:ea typeface="Source Code Pro"/>
              <a:cs typeface="Source Code Pro"/>
              <a:sym typeface="Source Code Pro"/>
            </a:endParaRPr>
          </a:p>
        </p:txBody>
      </p:sp>
      <p:sp>
        <p:nvSpPr>
          <p:cNvPr id="86" name="Google Shape;86;p16"/>
          <p:cNvSpPr/>
          <p:nvPr/>
        </p:nvSpPr>
        <p:spPr>
          <a:xfrm>
            <a:off x="4859912" y="3681531"/>
            <a:ext cx="1538400" cy="14061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Times New Roman"/>
                <a:ea typeface="Times New Roman"/>
                <a:cs typeface="Times New Roman"/>
                <a:sym typeface="Times New Roman"/>
              </a:rPr>
              <a:t>SUMMARIZING THE DATA USING AMAZON RDS and MYSQL</a:t>
            </a:r>
            <a:endParaRPr sz="1200" dirty="0">
              <a:latin typeface="Times New Roman"/>
              <a:ea typeface="Times New Roman"/>
              <a:cs typeface="Times New Roman"/>
              <a:sym typeface="Times New Roman"/>
            </a:endParaRPr>
          </a:p>
        </p:txBody>
      </p:sp>
      <p:sp>
        <p:nvSpPr>
          <p:cNvPr id="87" name="Google Shape;87;p16"/>
          <p:cNvSpPr/>
          <p:nvPr/>
        </p:nvSpPr>
        <p:spPr>
          <a:xfrm>
            <a:off x="6728974" y="3681531"/>
            <a:ext cx="1538400" cy="14061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1200"/>
              </a:spcAft>
              <a:buNone/>
            </a:pPr>
            <a:r>
              <a:rPr lang="en" sz="1200" dirty="0">
                <a:latin typeface="Times New Roman"/>
                <a:ea typeface="Times New Roman"/>
                <a:cs typeface="Times New Roman"/>
                <a:sym typeface="Times New Roman"/>
              </a:rPr>
              <a:t>AMAZON AWS </a:t>
            </a:r>
            <a:r>
              <a:rPr lang="en" sz="1200">
                <a:latin typeface="Times New Roman"/>
                <a:ea typeface="Times New Roman"/>
                <a:cs typeface="Times New Roman"/>
                <a:sym typeface="Times New Roman"/>
              </a:rPr>
              <a:t>S3  </a:t>
            </a:r>
            <a:r>
              <a:rPr lang="en" sz="1200" dirty="0">
                <a:latin typeface="Times New Roman"/>
                <a:ea typeface="Times New Roman"/>
                <a:cs typeface="Times New Roman"/>
                <a:sym typeface="Times New Roman"/>
              </a:rPr>
              <a:t>USED FOR STORAGE AND MANAGEMENT</a:t>
            </a:r>
            <a:endParaRPr sz="1200" dirty="0">
              <a:latin typeface="Times New Roman"/>
              <a:ea typeface="Times New Roman"/>
              <a:cs typeface="Times New Roman"/>
              <a:sym typeface="Times New Roman"/>
            </a:endParaRPr>
          </a:p>
        </p:txBody>
      </p:sp>
      <p:cxnSp>
        <p:nvCxnSpPr>
          <p:cNvPr id="88" name="Google Shape;88;p16"/>
          <p:cNvCxnSpPr>
            <a:stCxn id="84" idx="3"/>
            <a:endCxn id="85" idx="1"/>
          </p:cNvCxnSpPr>
          <p:nvPr/>
        </p:nvCxnSpPr>
        <p:spPr>
          <a:xfrm>
            <a:off x="2036604" y="4356000"/>
            <a:ext cx="278346" cy="0"/>
          </a:xfrm>
          <a:prstGeom prst="straightConnector1">
            <a:avLst/>
          </a:prstGeom>
          <a:noFill/>
          <a:ln w="9525" cap="flat" cmpd="sng">
            <a:solidFill>
              <a:schemeClr val="dk2"/>
            </a:solidFill>
            <a:prstDash val="solid"/>
            <a:round/>
            <a:headEnd type="none" w="med" len="med"/>
            <a:tailEnd type="triangle" w="med" len="med"/>
          </a:ln>
        </p:spPr>
      </p:cxnSp>
      <p:cxnSp>
        <p:nvCxnSpPr>
          <p:cNvPr id="89" name="Google Shape;89;p16"/>
          <p:cNvCxnSpPr>
            <a:cxnSpLocks/>
            <a:stCxn id="86" idx="1"/>
            <a:endCxn id="86" idx="1"/>
          </p:cNvCxnSpPr>
          <p:nvPr/>
        </p:nvCxnSpPr>
        <p:spPr>
          <a:xfrm>
            <a:off x="4859912" y="4384581"/>
            <a:ext cx="0" cy="0"/>
          </a:xfrm>
          <a:prstGeom prst="straightConnector1">
            <a:avLst/>
          </a:prstGeom>
          <a:noFill/>
          <a:ln w="9525" cap="flat" cmpd="sng">
            <a:solidFill>
              <a:schemeClr val="dk2"/>
            </a:solidFill>
            <a:prstDash val="solid"/>
            <a:round/>
            <a:headEnd type="none" w="med" len="med"/>
            <a:tailEnd type="triangle" w="med" len="med"/>
          </a:ln>
        </p:spPr>
      </p:cxnSp>
      <p:cxnSp>
        <p:nvCxnSpPr>
          <p:cNvPr id="91" name="Google Shape;91;p16"/>
          <p:cNvCxnSpPr>
            <a:cxnSpLocks/>
          </p:cNvCxnSpPr>
          <p:nvPr/>
        </p:nvCxnSpPr>
        <p:spPr>
          <a:xfrm>
            <a:off x="6398312" y="4212771"/>
            <a:ext cx="330663" cy="0"/>
          </a:xfrm>
          <a:prstGeom prst="straightConnector1">
            <a:avLst/>
          </a:prstGeom>
          <a:noFill/>
          <a:ln w="9525" cap="flat" cmpd="sng">
            <a:solidFill>
              <a:schemeClr val="dk2"/>
            </a:solidFill>
            <a:prstDash val="solid"/>
            <a:round/>
            <a:headEnd type="none" w="med" len="med"/>
            <a:tailEnd type="triangle" w="med" len="med"/>
          </a:ln>
        </p:spPr>
      </p:cxnSp>
      <p:graphicFrame>
        <p:nvGraphicFramePr>
          <p:cNvPr id="94" name="Google Shape;83;p16">
            <a:extLst>
              <a:ext uri="{FF2B5EF4-FFF2-40B4-BE49-F238E27FC236}">
                <a16:creationId xmlns:a16="http://schemas.microsoft.com/office/drawing/2014/main" id="{DA68426C-1046-2FE7-498F-4DA6FC1271B1}"/>
              </a:ext>
            </a:extLst>
          </p:cNvPr>
          <p:cNvGraphicFramePr/>
          <p:nvPr>
            <p:extLst>
              <p:ext uri="{D42A27DB-BD31-4B8C-83A1-F6EECF244321}">
                <p14:modId xmlns:p14="http://schemas.microsoft.com/office/powerpoint/2010/main" val="3865063306"/>
              </p:ext>
            </p:extLst>
          </p:nvPr>
        </p:nvGraphicFramePr>
        <p:xfrm>
          <a:off x="135815" y="818197"/>
          <a:ext cx="8520600" cy="25812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2" name="Straight Arrow Connector 11">
            <a:extLst>
              <a:ext uri="{FF2B5EF4-FFF2-40B4-BE49-F238E27FC236}">
                <a16:creationId xmlns:a16="http://schemas.microsoft.com/office/drawing/2014/main" id="{06AB69E3-A31D-DCCF-F46E-2ED41287BAB2}"/>
              </a:ext>
            </a:extLst>
          </p:cNvPr>
          <p:cNvCxnSpPr/>
          <p:nvPr/>
        </p:nvCxnSpPr>
        <p:spPr>
          <a:xfrm>
            <a:off x="4529250" y="4212771"/>
            <a:ext cx="3306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 b="1" dirty="0">
                <a:solidFill>
                  <a:srgbClr val="262626"/>
                </a:solidFill>
                <a:latin typeface="Times New Roman"/>
                <a:ea typeface="Times New Roman"/>
                <a:cs typeface="Times New Roman"/>
                <a:sym typeface="Times New Roman"/>
              </a:rPr>
              <a:t>SUMMARY</a:t>
            </a:r>
            <a:endParaRPr dirty="0">
              <a:latin typeface="Times New Roman"/>
              <a:ea typeface="Times New Roman"/>
              <a:cs typeface="Times New Roman"/>
              <a:sym typeface="Times New Roman"/>
            </a:endParaRPr>
          </a:p>
        </p:txBody>
      </p:sp>
      <p:sp>
        <p:nvSpPr>
          <p:cNvPr id="98" name="Google Shape;98;p17"/>
          <p:cNvSpPr txBox="1">
            <a:spLocks noGrp="1"/>
          </p:cNvSpPr>
          <p:nvPr>
            <p:ph type="body" idx="1"/>
          </p:nvPr>
        </p:nvSpPr>
        <p:spPr>
          <a:xfrm>
            <a:off x="311700" y="1381625"/>
            <a:ext cx="8520600" cy="3285300"/>
          </a:xfrm>
          <a:prstGeom prst="rect">
            <a:avLst/>
          </a:prstGeom>
        </p:spPr>
        <p:txBody>
          <a:bodyPr spcFirstLastPara="1" wrap="square" lIns="91425" tIns="91425" rIns="91425" bIns="91425" anchor="t" anchorCtr="0">
            <a:normAutofit fontScale="25000" lnSpcReduction="20000"/>
          </a:bodyPr>
          <a:lstStyle/>
          <a:p>
            <a:pPr marL="457200" lvl="0" indent="-330993" algn="just" rtl="0">
              <a:lnSpc>
                <a:spcPct val="120000"/>
              </a:lnSpc>
              <a:spcBef>
                <a:spcPts val="0"/>
              </a:spcBef>
              <a:spcAft>
                <a:spcPts val="0"/>
              </a:spcAft>
              <a:buSzPct val="100000"/>
              <a:buFont typeface="Times New Roman"/>
              <a:buChar char="➢"/>
            </a:pPr>
            <a:r>
              <a:rPr lang="en" sz="6450" dirty="0">
                <a:latin typeface="Times New Roman"/>
                <a:ea typeface="Times New Roman"/>
                <a:cs typeface="Times New Roman"/>
                <a:sym typeface="Times New Roman"/>
              </a:rPr>
              <a:t>The Integrated Surface Dataset (Global) offers comprehensive meteorological data from over 35,000 stations worldwide, with the most thorough coverage in regions like North America and Europe.</a:t>
            </a:r>
            <a:endParaRPr sz="6450" dirty="0">
              <a:latin typeface="Times New Roman"/>
              <a:ea typeface="Times New Roman"/>
              <a:cs typeface="Times New Roman"/>
              <a:sym typeface="Times New Roman"/>
            </a:endParaRPr>
          </a:p>
          <a:p>
            <a:pPr marL="457200" lvl="0" indent="-330993" algn="just" rtl="0">
              <a:lnSpc>
                <a:spcPct val="120000"/>
              </a:lnSpc>
              <a:spcBef>
                <a:spcPts val="0"/>
              </a:spcBef>
              <a:spcAft>
                <a:spcPts val="0"/>
              </a:spcAft>
              <a:buSzPct val="100000"/>
              <a:buFont typeface="Times New Roman"/>
              <a:buChar char="➢"/>
            </a:pPr>
            <a:r>
              <a:rPr lang="en" sz="6450" dirty="0">
                <a:latin typeface="Times New Roman"/>
                <a:ea typeface="Times New Roman"/>
                <a:cs typeface="Times New Roman"/>
                <a:sym typeface="Times New Roman"/>
              </a:rPr>
              <a:t>The graphs provided showcase the distribution of weather report types and the sum of elevations by source, along with the count of temperature recordings per call sign. They reveal the predominance of certain report types and the variability of temperature data across different reporting stations.</a:t>
            </a:r>
            <a:endParaRPr sz="6450" dirty="0">
              <a:latin typeface="Times New Roman"/>
              <a:ea typeface="Times New Roman"/>
              <a:cs typeface="Times New Roman"/>
              <a:sym typeface="Times New Roman"/>
            </a:endParaRPr>
          </a:p>
          <a:p>
            <a:pPr marL="457200" lvl="0" indent="-330993" algn="just" rtl="0">
              <a:lnSpc>
                <a:spcPct val="120000"/>
              </a:lnSpc>
              <a:spcBef>
                <a:spcPts val="0"/>
              </a:spcBef>
              <a:spcAft>
                <a:spcPts val="0"/>
              </a:spcAft>
              <a:buSzPct val="100000"/>
              <a:buFont typeface="Times New Roman"/>
              <a:buChar char="➢"/>
            </a:pPr>
            <a:r>
              <a:rPr lang="en" sz="6450" dirty="0">
                <a:latin typeface="Times New Roman"/>
                <a:ea typeface="Times New Roman"/>
                <a:cs typeface="Times New Roman"/>
                <a:sym typeface="Times New Roman"/>
              </a:rPr>
              <a:t>The analysis reveals patterns in weather report types and temperature recordings, summarized through clear visualizations that underscore the dataset's comprehensive organization and the frequency of reporting across various call signs.</a:t>
            </a:r>
            <a:endParaRPr sz="6450" dirty="0">
              <a:latin typeface="Times New Roman"/>
              <a:ea typeface="Times New Roman"/>
              <a:cs typeface="Times New Roman"/>
              <a:sym typeface="Times New Roman"/>
            </a:endParaRPr>
          </a:p>
          <a:p>
            <a:pPr marL="457200" lvl="0" indent="-318293" algn="just" rtl="0">
              <a:lnSpc>
                <a:spcPct val="120000"/>
              </a:lnSpc>
              <a:spcBef>
                <a:spcPts val="0"/>
              </a:spcBef>
              <a:spcAft>
                <a:spcPts val="0"/>
              </a:spcAft>
              <a:buSzPct val="87596"/>
              <a:buFont typeface="Times New Roman"/>
              <a:buChar char="➢"/>
            </a:pPr>
            <a:r>
              <a:rPr lang="en" sz="6450" dirty="0">
                <a:latin typeface="Times New Roman"/>
                <a:ea typeface="Times New Roman"/>
                <a:cs typeface="Times New Roman"/>
                <a:sym typeface="Times New Roman"/>
              </a:rPr>
              <a:t>In this research paper, I delved into and discoveried stemming  by examining the weather data, and by addressing the study's limitations and elaborating on researcher’s key findings.</a:t>
            </a:r>
            <a:br>
              <a:rPr lang="en" sz="5650" dirty="0">
                <a:latin typeface="Times New Roman"/>
                <a:ea typeface="Times New Roman"/>
                <a:cs typeface="Times New Roman"/>
                <a:sym typeface="Times New Roman"/>
              </a:rPr>
            </a:br>
            <a:endParaRPr sz="5650" dirty="0">
              <a:latin typeface="Times New Roman"/>
              <a:ea typeface="Times New Roman"/>
              <a:cs typeface="Times New Roman"/>
              <a:sym typeface="Times New Roman"/>
            </a:endParaRPr>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
        <p:nvSpPr>
          <p:cNvPr id="99" name="Google Shape;99;p17"/>
          <p:cNvSpPr txBox="1">
            <a:spLocks noGrp="1"/>
          </p:cNvSpPr>
          <p:nvPr>
            <p:ph type="sldNum" idx="12"/>
          </p:nvPr>
        </p:nvSpPr>
        <p:spPr>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b="1" dirty="0">
                <a:solidFill>
                  <a:srgbClr val="000000"/>
                </a:solidFill>
                <a:latin typeface="Times New Roman"/>
                <a:ea typeface="Times New Roman"/>
                <a:cs typeface="Times New Roman"/>
                <a:sym typeface="Times New Roman"/>
              </a:rPr>
              <a:t>LESSONS LEARNED</a:t>
            </a:r>
            <a:endParaRPr dirty="0">
              <a:latin typeface="Times New Roman"/>
              <a:ea typeface="Times New Roman"/>
              <a:cs typeface="Times New Roman"/>
              <a:sym typeface="Times New Roman"/>
            </a:endParaRPr>
          </a:p>
        </p:txBody>
      </p:sp>
      <p:sp>
        <p:nvSpPr>
          <p:cNvPr id="106" name="Google Shape;106;p18"/>
          <p:cNvSpPr txBox="1">
            <a:spLocks noGrp="1"/>
          </p:cNvSpPr>
          <p:nvPr>
            <p:ph type="sldNum" idx="12"/>
          </p:nvPr>
        </p:nvSpPr>
        <p:spPr>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graphicFrame>
        <p:nvGraphicFramePr>
          <p:cNvPr id="110" name="Google Shape;105;p18">
            <a:extLst>
              <a:ext uri="{FF2B5EF4-FFF2-40B4-BE49-F238E27FC236}">
                <a16:creationId xmlns:a16="http://schemas.microsoft.com/office/drawing/2014/main" id="{BCBB6E08-5ECA-6AF2-1C3C-2462BEBCF1A3}"/>
              </a:ext>
            </a:extLst>
          </p:cNvPr>
          <p:cNvGraphicFramePr/>
          <p:nvPr/>
        </p:nvGraphicFramePr>
        <p:xfrm>
          <a:off x="311700" y="1468825"/>
          <a:ext cx="8520600" cy="3099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451</TotalTime>
  <Words>571</Words>
  <Application>Microsoft Office PowerPoint</Application>
  <PresentationFormat>On-screen Show (16:9)</PresentationFormat>
  <Paragraphs>45</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Source Code Pro</vt:lpstr>
      <vt:lpstr>Arial</vt:lpstr>
      <vt:lpstr>Calibri</vt:lpstr>
      <vt:lpstr>Roboto</vt:lpstr>
      <vt:lpstr>Times New Roman</vt:lpstr>
      <vt:lpstr>Calibri Light</vt:lpstr>
      <vt:lpstr>Retrospect</vt:lpstr>
      <vt:lpstr>AIT 580(009)  Weather Forecasting and Beyond: The Role of Integrated Surface Dataset in  Modern Meteorology </vt:lpstr>
      <vt:lpstr>DATASET DESCRIPTION</vt:lpstr>
      <vt:lpstr>RESEARCH QUESTIONS</vt:lpstr>
      <vt:lpstr>METHODOLOGIES AND TOOLS</vt:lpstr>
      <vt:lpstr>SUMMARY</vt:lpstr>
      <vt:lpstr>LESSONS LEARNED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AIT 580 - Weather Forecasting and Beyond: The Role of ISD in Modern Meteorology</dc:title>
  <dc:creator>MANASA RAJAGOPAL MADABUSHI</dc:creator>
  <cp:lastModifiedBy>MANASA RAJAGOPAL MADABUSHI</cp:lastModifiedBy>
  <cp:revision>14</cp:revision>
  <dcterms:modified xsi:type="dcterms:W3CDTF">2024-04-29T00:44:46Z</dcterms:modified>
</cp:coreProperties>
</file>